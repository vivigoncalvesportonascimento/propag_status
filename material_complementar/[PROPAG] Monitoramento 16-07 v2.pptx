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1426" r:id="rId5"/>
    <p:sldId id="3067" r:id="rId6"/>
    <p:sldId id="3080" r:id="rId7"/>
    <p:sldId id="2954" r:id="rId8"/>
    <p:sldId id="3094" r:id="rId9"/>
    <p:sldId id="3071" r:id="rId10"/>
    <p:sldId id="3096" r:id="rId11"/>
    <p:sldId id="3097" r:id="rId12"/>
    <p:sldId id="3098" r:id="rId13"/>
    <p:sldId id="3099" r:id="rId14"/>
    <p:sldId id="3073" r:id="rId15"/>
    <p:sldId id="3074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749101-D78F-1CCF-97CA-94AAF3C901AF}" name="Caroliny Aparecida Silva de Miranda (SEPLAG)" initials="C(" userId="S::m752977@ca.mg.gov.br::c5e5505a-378e-4b3b-9bb4-b03cc01e0a05" providerId="AD"/>
  <p188:author id="{5B09703F-487E-8ABA-D713-D724457CFADA}" name="Ana Carolina Schiavon Cordeiro (SEPLAG)" initials="A(" userId="S::m752979@ca.mg.gov.br::f74f076c-a35f-4e75-b102-dae2e585dfb2" providerId="AD"/>
  <p188:author id="{581341D5-914E-CCAF-2D45-50DF5F8CCDF6}" name="Ana Carolina Schiavon Cordeiro" initials="AS" userId="S::M752979@ca.mg.gov.br::f74f076c-a35f-4e75-b102-dae2e585dfb2" providerId="AD"/>
  <p188:author id="{542FFFFB-E694-9F6F-8D8D-913E64761CEA}" name="Isabelle Colares Ali Ganem (SEPLAG)" initials="I(" userId="S::m752885@ca.mg.gov.br::373c2fa1-303b-49f4-8f45-dcfb2e257f2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2060"/>
    <a:srgbClr val="CFD5EA"/>
    <a:srgbClr val="FFBD58"/>
    <a:srgbClr val="DAE3F3"/>
    <a:srgbClr val="FFF4E7"/>
    <a:srgbClr val="D0D0D0"/>
    <a:srgbClr val="F5E6FE"/>
    <a:srgbClr val="EBCBFD"/>
    <a:srgbClr val="FF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31F4B3-D5DE-4511-8ECD-D2BF31837490}" v="2" dt="2026-07-15T14:49:37.040"/>
    <p1510:client id="{6AED9E34-AF7C-7908-01E2-8A6E7A0C28BB}" v="35" dt="2026-07-15T20:39:53.344"/>
    <p1510:client id="{7C5E3E8C-4775-3C32-91DE-D7EAEC33C8CE}" v="623" dt="2026-07-15T19:16:58.258"/>
    <p1510:client id="{86889278-EF3A-940E-621E-BD538C19FC59}" v="230" dt="2026-07-15T20:37:48.902"/>
    <p1510:client id="{A45C0D6A-26F5-6EA6-8874-B82ECF1C2D7B}" v="124" dt="2026-07-15T15:06:20.142"/>
    <p1510:client id="{A74A2C87-B96B-4150-3B9E-0A3181AC42CD}" v="803" dt="2026-07-15T13:51:10.333"/>
    <p1510:client id="{C9ADA528-1E75-F08F-E7E7-6BD75985C6B3}" v="11" dt="2026-07-15T20:51:35.787"/>
    <p1510:client id="{E0C87080-B219-B145-8E82-96AA1AA8E0DB}" v="482" dt="2026-07-15T20:49:18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iane Nascimento" userId="796ce8924561144a" providerId="LiveId" clId="{CA03A259-0C9F-4B73-97FA-2AA10E695F42}"/>
    <pc:docChg chg="custSel modSld">
      <pc:chgData name="Viviane Nascimento" userId="796ce8924561144a" providerId="LiveId" clId="{CA03A259-0C9F-4B73-97FA-2AA10E695F42}" dt="2026-07-16T13:24:39.267" v="537" actId="6549"/>
      <pc:docMkLst>
        <pc:docMk/>
      </pc:docMkLst>
      <pc:sldChg chg="addSp delSp modSp mod">
        <pc:chgData name="Viviane Nascimento" userId="796ce8924561144a" providerId="LiveId" clId="{CA03A259-0C9F-4B73-97FA-2AA10E695F42}" dt="2026-07-16T13:24:39.267" v="537" actId="6549"/>
        <pc:sldMkLst>
          <pc:docMk/>
          <pc:sldMk cId="805280570" sldId="3094"/>
        </pc:sldMkLst>
        <pc:spChg chg="mod">
          <ac:chgData name="Viviane Nascimento" userId="796ce8924561144a" providerId="LiveId" clId="{CA03A259-0C9F-4B73-97FA-2AA10E695F42}" dt="2026-07-16T13:23:30.515" v="514" actId="1076"/>
          <ac:spMkLst>
            <pc:docMk/>
            <pc:sldMk cId="805280570" sldId="3094"/>
            <ac:spMk id="3" creationId="{0B0E03D9-3FFC-6D6C-8D9E-93E6B2A809A9}"/>
          </ac:spMkLst>
        </pc:spChg>
        <pc:spChg chg="del">
          <ac:chgData name="Viviane Nascimento" userId="796ce8924561144a" providerId="LiveId" clId="{CA03A259-0C9F-4B73-97FA-2AA10E695F42}" dt="2026-07-16T13:18:19.969" v="2" actId="478"/>
          <ac:spMkLst>
            <pc:docMk/>
            <pc:sldMk cId="805280570" sldId="3094"/>
            <ac:spMk id="6" creationId="{18C36A93-F6F1-FF52-78AE-0A7F780C57A9}"/>
          </ac:spMkLst>
        </pc:spChg>
        <pc:spChg chg="add mod">
          <ac:chgData name="Viviane Nascimento" userId="796ce8924561144a" providerId="LiveId" clId="{CA03A259-0C9F-4B73-97FA-2AA10E695F42}" dt="2026-07-16T13:24:39.267" v="537" actId="6549"/>
          <ac:spMkLst>
            <pc:docMk/>
            <pc:sldMk cId="805280570" sldId="3094"/>
            <ac:spMk id="10" creationId="{38E5FF99-90D7-D464-BA55-3E04D1B96CA2}"/>
          </ac:spMkLst>
        </pc:spChg>
        <pc:graphicFrameChg chg="del modGraphic">
          <ac:chgData name="Viviane Nascimento" userId="796ce8924561144a" providerId="LiveId" clId="{CA03A259-0C9F-4B73-97FA-2AA10E695F42}" dt="2026-07-16T13:18:17.728" v="1" actId="478"/>
          <ac:graphicFrameMkLst>
            <pc:docMk/>
            <pc:sldMk cId="805280570" sldId="3094"/>
            <ac:graphicFrameMk id="2" creationId="{EB956A61-D0DF-F876-4205-8937CDC76C61}"/>
          </ac:graphicFrameMkLst>
        </pc:graphicFrameChg>
        <pc:picChg chg="add del mod">
          <ac:chgData name="Viviane Nascimento" userId="796ce8924561144a" providerId="LiveId" clId="{CA03A259-0C9F-4B73-97FA-2AA10E695F42}" dt="2026-07-16T13:19:51.565" v="6" actId="478"/>
          <ac:picMkLst>
            <pc:docMk/>
            <pc:sldMk cId="805280570" sldId="3094"/>
            <ac:picMk id="5" creationId="{733214C7-BB1F-3EB8-DEA1-65D60FCA7F74}"/>
          </ac:picMkLst>
        </pc:picChg>
        <pc:picChg chg="add del mod">
          <ac:chgData name="Viviane Nascimento" userId="796ce8924561144a" providerId="LiveId" clId="{CA03A259-0C9F-4B73-97FA-2AA10E695F42}" dt="2026-07-16T13:23:53.372" v="516" actId="478"/>
          <ac:picMkLst>
            <pc:docMk/>
            <pc:sldMk cId="805280570" sldId="3094"/>
            <ac:picMk id="8" creationId="{6319AC9A-9563-56D0-5DE9-53F615091DD5}"/>
          </ac:picMkLst>
        </pc:picChg>
        <pc:picChg chg="add mod">
          <ac:chgData name="Viviane Nascimento" userId="796ce8924561144a" providerId="LiveId" clId="{CA03A259-0C9F-4B73-97FA-2AA10E695F42}" dt="2026-07-16T13:24:05.486" v="520" actId="1076"/>
          <ac:picMkLst>
            <pc:docMk/>
            <pc:sldMk cId="805280570" sldId="3094"/>
            <ac:picMk id="12" creationId="{66F442F0-4414-5DBA-854D-CB6C45E733E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2024-0846-4A07-AA15-64C15DB4B1F9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743DD-3F40-4AFA-93FA-C64F4B7AC8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03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DDA47-68EB-0A30-A41E-9AFDA42C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C0DBC37-09D2-67B7-B8B2-583E933B3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197F935-E1DD-BECC-5132-C832E58DE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5FFB8F-78C7-1305-52C8-986A0A53A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584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B9EB8-81DC-F888-72CF-05B51569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671B4-88E9-EB3C-BC3E-E1F4EC606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72DB116-FCD0-50AA-7B19-C3B15E12B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3319AD-26A6-E53E-1889-61A575A57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678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9FD4F-94E6-AE7D-E144-70B87B434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A4A89C-61C8-5612-EE88-4C403FA8F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E16EE79-60E4-453E-6D38-F9243C0AA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8CFB97-38E0-339C-5C02-BA6621740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745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F985-3C01-5631-C166-60579260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1113F35-7F5E-7040-BF54-3B999667A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7D75469-E6E4-F351-8870-20191CB35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B1DD40-4DA2-0822-087F-1B41BFA74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163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75B4-E77A-81CD-87CB-ECE87C19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0058E6-91F7-81B6-113E-F92E18E13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24BDE1-E377-037B-10B7-E49686033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9C45E9-9CA4-44B6-C1BE-0710A72CD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769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4787-FCDD-C40E-15D8-AD76EC55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508926-B51A-8261-CE35-3681B97F5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6719992-91AF-5087-F3DA-AAD086E0E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59101B-C425-9C9B-432D-AFB80E58E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28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4787-FCDD-C40E-15D8-AD76EC55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508926-B51A-8261-CE35-3681B97F5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6719992-91AF-5087-F3DA-AAD086E0E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59101B-C425-9C9B-432D-AFB80E58E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731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167F-E24F-F340-2DB4-C3514137A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5CA137-A7BD-6BB2-B18D-9A07E9726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8FC28E7-96BB-3E21-273F-FFD7A37D1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,Sans-Serif"/>
              <a:buChar char="•"/>
            </a:pPr>
            <a:r>
              <a:rPr lang="pt-BR"/>
              <a:t>PL Teto de Gastos – PLC 71/2025</a:t>
            </a:r>
            <a:endParaRPr lang="en-US"/>
          </a:p>
          <a:p>
            <a:pPr marL="742950" lvl="1" indent="-285750">
              <a:buFont typeface="Arial,Sans-Serif"/>
              <a:buChar char="•"/>
            </a:pPr>
            <a:r>
              <a:rPr lang="pt-BR"/>
              <a:t>Status: em análise na Comissão de Fiscalização Financeira e Orçamentária. (Aprovado em 1º turno na CCJ e na Comissão de Administração Pública). – sem andamento desde a última reunião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499D0D-1386-B055-4E30-989E78114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8703-4848-4B6F-9597-903E58DECE6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9314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F247A-855D-0290-0010-419398ECE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CE2039-A178-8586-BBEA-8D7D64419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FF95E9-565F-3501-1270-AAFA634D1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5EA7AA-4982-011C-383C-7C112D46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919A59-760C-FAC8-CCFB-F1A713C0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95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F112A-DA73-AD9F-2AC6-E7F16FCB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68BEB8-6135-FA1F-EFD9-B0AA56C82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90166F-79BB-B47D-2F5B-D668B1FB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15FB39-F78A-4321-33DD-D9F7E4062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02DC00-429D-2491-8AA6-CA23E078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35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E061F-B912-7B77-219A-50C1ACBA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616084-D224-EC8F-38DF-301781E9E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59C134-5B54-7FDE-2235-72064C1C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50A1C7-FF72-BD2F-2AE8-3FB186C7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4064AA-3BCA-1E08-9305-063E04AC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89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EDE9D-EE67-7631-1CC9-268A6DE1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DB5FAB-126D-AC06-3E9D-BA8932FB0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1025CB-D93F-2AD5-A696-B05FEFBED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F1D487-B675-6414-A261-6C22F5EE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FC808A-1785-DE4D-7308-F56DFC79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34738A-7E6E-C306-E3DE-845F594F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507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6E260-042E-304D-EC1E-7391805BD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1DC367-6F82-F39A-C696-D7BD7C3F3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3F6E56-6410-1C94-C1DB-715A69297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891A7A-ECA5-8450-9F2E-B2AEF0E49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4709E0-D605-9C86-F552-489AA4AAF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2849B3-644C-95FA-31DE-D4F04D4C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9F75F97-E10E-3580-9F4C-40D066AF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A0D33E-CAB3-F810-F2FE-CB6CA439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3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200F5-2DC5-027A-2CC7-DDAEC7DE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31F13E-F3F0-C33C-EE09-7CFC92A8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2C5EDB-AA71-0122-7E28-210B42DD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E59640-E639-A457-44AA-AD213A37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669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3AD0CD-300D-4409-EA93-12BDDCC1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AA9AD0-7132-E648-F7FE-7B7A464A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EDD8E5-7974-6D59-0DE5-CAB49F87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38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FFDBF-8062-358A-6C2D-C7DF0132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523B9A-5711-4572-620F-4ACA88D0B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B1481A-DF47-345C-3FF3-6FB603092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67A6A6-E04B-988D-FB10-24965E3E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E7983-A138-88F4-E705-2C10EF47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98CA6F-99EF-1409-6088-A8AFF4C81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67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6EE77-6B0D-551F-7A58-835F6612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2CB00F6-1795-E818-8D16-52BF317D2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0EA5A7-A860-9AAC-636B-4EE1E2673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DDCBB6-15B7-2B65-DDE0-7F4CC643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771EC7-4B3E-C59B-C9CB-21B56ACE5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DCEAA2-ABEA-891F-923C-AEFCC8A1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64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1BD2E-7A53-38A8-3DD9-938C8EDE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24F1DA-90DA-217A-B390-FA1569A76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06CD79-A861-7724-4F05-12054753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B44FFA-5C51-8779-6BDC-80F2A1E3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B7012-1736-083D-29D5-EDAC2AA9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389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1A8B0B-86F2-5669-7D57-83E7C2027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5860ED-591C-F7BF-83BF-F4E5AD5D0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0D1B2D-1408-698D-F427-D93FC72F3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2BC9A-4EE4-67A5-E6D1-7FDB6C11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4DD06D-1A66-B88F-2CE4-69029F2B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681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5F62B6B-613B-DF75-452D-53B77EE1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C1A953-0DC7-D94E-06F9-72B2B2659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E188B1-BBC1-D0C6-9051-23D32B52C8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C8A44-BE3D-4BC5-BCFB-FA21CFE92411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B54396-4DF3-2858-C105-B58218C25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BBCD83-2A6C-0684-0CA7-13F7AF1A3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54950-DEBD-4C95-855B-E0E66037B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339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A9E51-C09E-4212-33AA-8D98BBAF5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5054" y="2747466"/>
            <a:ext cx="10741892" cy="1249218"/>
          </a:xfrm>
        </p:spPr>
        <p:txBody>
          <a:bodyPr anchor="ctr">
            <a:normAutofit/>
          </a:bodyPr>
          <a:lstStyle/>
          <a:p>
            <a:pPr algn="l"/>
            <a:r>
              <a:rPr lang="pt-BR">
                <a:latin typeface="Trebuchet MS"/>
              </a:rPr>
              <a:t>REUNIÃO DE STATUS PROPAG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F95532-5F5A-8903-4E0F-883315828A33}"/>
              </a:ext>
            </a:extLst>
          </p:cNvPr>
          <p:cNvSpPr txBox="1"/>
          <p:nvPr/>
        </p:nvSpPr>
        <p:spPr>
          <a:xfrm>
            <a:off x="3179676" y="6213790"/>
            <a:ext cx="583264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600" b="1"/>
              <a:t>JULHO 2026</a:t>
            </a:r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41DF22-6382-ED14-6778-59E1163C616D}"/>
              </a:ext>
            </a:extLst>
          </p:cNvPr>
          <p:cNvSpPr/>
          <p:nvPr/>
        </p:nvSpPr>
        <p:spPr>
          <a:xfrm>
            <a:off x="300937" y="2747466"/>
            <a:ext cx="143000" cy="13630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1E379D9-C1CC-9B24-72E2-AF6D6C03C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925" y="5102570"/>
            <a:ext cx="12001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75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5C4BD-1FB9-6C1C-4C4F-81149267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D99D15D5-A43B-2DAE-44F0-FB82AAF7F831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65ED342-49A4-7F76-F61D-AA3BA67F2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>
                <a:latin typeface="Trebuchet MS"/>
              </a:rPr>
              <a:t>pauta</a:t>
            </a:r>
            <a:endParaRPr lang="pt-BR" sz="2400" cap="all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43086" y="905163"/>
            <a:ext cx="11795855" cy="3980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spcAft>
                <a:spcPts val="600"/>
              </a:spcAft>
              <a:buAutoNum type="arabicPeriod"/>
            </a:pPr>
            <a:endParaRPr lang="pt-BR" sz="2400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pt-BR" sz="2400">
                <a:solidFill>
                  <a:schemeClr val="tx1"/>
                </a:solidFill>
                <a:ea typeface="Calibri"/>
                <a:cs typeface="Calibri"/>
              </a:rPr>
              <a:t>Prestação de contas - balanço semestral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pt-BR" sz="2400">
                <a:solidFill>
                  <a:schemeClr val="tx1"/>
                </a:solidFill>
              </a:rPr>
              <a:t>Estratégia de Judicialização (AGE)</a:t>
            </a:r>
            <a:endParaRPr lang="pt-BR" sz="2400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pt-BR" sz="2400">
                <a:solidFill>
                  <a:schemeClr val="tx1"/>
                </a:solidFill>
                <a:ea typeface="Calibri"/>
                <a:cs typeface="Calibri"/>
              </a:rPr>
              <a:t>Ativos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pt-BR" sz="2400">
                <a:solidFill>
                  <a:schemeClr val="tx1"/>
                </a:solidFill>
                <a:ea typeface="Calibri"/>
                <a:cs typeface="Calibri"/>
              </a:rPr>
              <a:t>Proposições Legislativas</a:t>
            </a:r>
            <a:endParaRPr lang="pt-BR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AutoNum type="arabicPeriod"/>
            </a:pPr>
            <a:endParaRPr lang="pt-BR" sz="24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AutoNum type="arabicPeriod"/>
            </a:pPr>
            <a:endParaRPr lang="pt-BR" sz="240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91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40C84-9CF2-6978-A03B-276D585A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F0A66A8-F045-98FE-0000-07E6EB85D18C}"/>
              </a:ext>
            </a:extLst>
          </p:cNvPr>
          <p:cNvSpPr/>
          <p:nvPr/>
        </p:nvSpPr>
        <p:spPr>
          <a:xfrm>
            <a:off x="454696" y="3147038"/>
            <a:ext cx="10257449" cy="980638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pt-BR" sz="3600" b="1">
                <a:solidFill>
                  <a:srgbClr val="ED7D31"/>
                </a:solidFill>
                <a:latin typeface="Trebuchet MS"/>
                <a:ea typeface="Calibri"/>
                <a:cs typeface="Calibri"/>
              </a:rPr>
              <a:t>Prestação de contas - balanço semestral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648BC15-8E2D-DFE8-C18B-0E534DD77E78}"/>
              </a:ext>
            </a:extLst>
          </p:cNvPr>
          <p:cNvSpPr/>
          <p:nvPr/>
        </p:nvSpPr>
        <p:spPr>
          <a:xfrm>
            <a:off x="382125" y="2839709"/>
            <a:ext cx="143000" cy="1363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4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2252A40-AE58-F17F-00FA-D08E30C99E00}"/>
              </a:ext>
            </a:extLst>
          </p:cNvPr>
          <p:cNvSpPr/>
          <p:nvPr/>
        </p:nvSpPr>
        <p:spPr>
          <a:xfrm>
            <a:off x="680815" y="4011562"/>
            <a:ext cx="10636145" cy="1280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Clr>
                <a:srgbClr val="ED7D31"/>
              </a:buClr>
              <a:buFont typeface="Arial" panose="020B0604020202020204" pitchFamily="34" charset="0"/>
              <a:buChar char="•"/>
            </a:pPr>
            <a:r>
              <a:rPr lang="pt-BR" sz="2000" b="1">
                <a:solidFill>
                  <a:schemeClr val="tx1"/>
                </a:solidFill>
              </a:rPr>
              <a:t>Coordenação: </a:t>
            </a:r>
            <a:r>
              <a:rPr lang="pt-BR" sz="2000">
                <a:solidFill>
                  <a:schemeClr val="tx1"/>
                </a:solidFill>
              </a:rPr>
              <a:t>Fábio Assunção e Felipe Magno</a:t>
            </a:r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0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24ED-A390-075A-CA80-1530B51C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45AD3500-1D71-CACD-42CD-EF9E10F7B0E0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88D0147-C93B-D5F1-9C7F-0BA0DE536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55256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400"/>
              </a:spcAft>
              <a:buNone/>
              <a:defRPr/>
            </a:pPr>
            <a:r>
              <a:rPr lang="pt-BR" altLang="pt-BR" sz="2400" b="1" cap="all" err="1">
                <a:solidFill>
                  <a:srgbClr val="ED7D31"/>
                </a:solidFill>
                <a:latin typeface="Trebuchet MS"/>
                <a:ea typeface="ＭＳ Ｐゴシック"/>
              </a:rPr>
              <a:t>PRESTAção</a:t>
            </a:r>
            <a:r>
              <a:rPr lang="pt-BR" altLang="pt-BR" sz="2400" b="1" cap="all">
                <a:solidFill>
                  <a:srgbClr val="ED7D31"/>
                </a:solidFill>
                <a:latin typeface="Trebuchet MS"/>
                <a:ea typeface="ＭＳ Ｐゴシック"/>
              </a:rPr>
              <a:t> de contas</a:t>
            </a:r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A20C93F-DA56-2192-D25A-4C6351E28BE8}"/>
              </a:ext>
            </a:extLst>
          </p:cNvPr>
          <p:cNvSpPr/>
          <p:nvPr/>
        </p:nvSpPr>
        <p:spPr>
          <a:xfrm>
            <a:off x="2743200" y="783770"/>
            <a:ext cx="2471057" cy="446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000000"/>
                </a:solidFill>
                <a:ea typeface="Calibri"/>
                <a:cs typeface="Calibri"/>
              </a:rPr>
              <a:t>Cenário 1</a:t>
            </a:r>
            <a:endParaRPr lang="pt-BR" b="1" dirty="0">
              <a:solidFill>
                <a:srgbClr val="000000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EF20A6-8002-24EB-4638-6ECB0869CCE6}"/>
              </a:ext>
            </a:extLst>
          </p:cNvPr>
          <p:cNvSpPr/>
          <p:nvPr/>
        </p:nvSpPr>
        <p:spPr>
          <a:xfrm>
            <a:off x="8138887" y="783770"/>
            <a:ext cx="2471057" cy="446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b="1" dirty="0">
                <a:solidFill>
                  <a:srgbClr val="000000"/>
                </a:solidFill>
                <a:ea typeface="Calibri"/>
                <a:cs typeface="Calibri"/>
              </a:rPr>
              <a:t>Cenário 2</a:t>
            </a:r>
            <a:endParaRPr lang="pt-BR" b="1" dirty="0">
              <a:solidFill>
                <a:srgbClr val="000000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7102FAB-9881-8091-3423-6FA0554547B1}"/>
              </a:ext>
            </a:extLst>
          </p:cNvPr>
          <p:cNvSpPr/>
          <p:nvPr/>
        </p:nvSpPr>
        <p:spPr>
          <a:xfrm>
            <a:off x="319313" y="4553858"/>
            <a:ext cx="1371600" cy="500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000000"/>
                </a:solidFill>
                <a:ea typeface="Calibri"/>
                <a:cs typeface="Calibri"/>
              </a:rPr>
              <a:t>Riscos</a:t>
            </a:r>
            <a:endParaRPr lang="pt-BR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930C3FA-8871-AEA8-F0BF-4610D52EF817}"/>
              </a:ext>
            </a:extLst>
          </p:cNvPr>
          <p:cNvCxnSpPr/>
          <p:nvPr/>
        </p:nvCxnSpPr>
        <p:spPr>
          <a:xfrm>
            <a:off x="175357" y="3661228"/>
            <a:ext cx="11520000" cy="108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A14227A0-6C19-5BF7-3E2C-721D917455F9}"/>
              </a:ext>
            </a:extLst>
          </p:cNvPr>
          <p:cNvSpPr/>
          <p:nvPr/>
        </p:nvSpPr>
        <p:spPr>
          <a:xfrm>
            <a:off x="2002971" y="1364341"/>
            <a:ext cx="3944257" cy="8309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600" dirty="0">
                <a:solidFill>
                  <a:srgbClr val="000000"/>
                </a:solidFill>
                <a:ea typeface="Calibri"/>
                <a:cs typeface="Calibri"/>
              </a:rPr>
              <a:t>Incluir gastos </a:t>
            </a:r>
            <a:r>
              <a:rPr lang="pt-BR" sz="1600">
                <a:solidFill>
                  <a:srgbClr val="000000"/>
                </a:solidFill>
                <a:ea typeface="Calibri"/>
                <a:cs typeface="Calibri"/>
              </a:rPr>
              <a:t>no</a:t>
            </a:r>
            <a:r>
              <a:rPr lang="pt-BR" sz="1600" dirty="0">
                <a:solidFill>
                  <a:srgbClr val="000000"/>
                </a:solidFill>
                <a:ea typeface="Calibri"/>
                <a:cs typeface="Calibri"/>
              </a:rPr>
              <a:t> IPU 1 de R$ 200 MM em EPT do 1º sem/2026 no balanço parcial e </a:t>
            </a:r>
            <a:r>
              <a:rPr lang="pt-BR" sz="1600">
                <a:solidFill>
                  <a:srgbClr val="000000"/>
                </a:solidFill>
                <a:ea typeface="Calibri"/>
                <a:cs typeface="Calibri"/>
              </a:rPr>
              <a:t>executar somente a diferença </a:t>
            </a:r>
            <a:r>
              <a:rPr lang="pt-BR" sz="1600" dirty="0">
                <a:solidFill>
                  <a:srgbClr val="000000"/>
                </a:solidFill>
                <a:ea typeface="Calibri"/>
                <a:cs typeface="Calibri"/>
              </a:rPr>
              <a:t>no </a:t>
            </a:r>
            <a:r>
              <a:rPr lang="pt-BR" sz="1600">
                <a:solidFill>
                  <a:srgbClr val="000000"/>
                </a:solidFill>
                <a:ea typeface="Calibri"/>
                <a:cs typeface="Calibri"/>
              </a:rPr>
              <a:t>2º sem. (R$ 356 MM)</a:t>
            </a:r>
            <a:endParaRPr lang="pt-BR" sz="160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94B563A-8B70-C4B1-B4F7-AFAB65830EEC}"/>
              </a:ext>
            </a:extLst>
          </p:cNvPr>
          <p:cNvSpPr/>
          <p:nvPr/>
        </p:nvSpPr>
        <p:spPr>
          <a:xfrm>
            <a:off x="7398658" y="1364341"/>
            <a:ext cx="4299856" cy="823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pt-BR" sz="16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Não incluir gastos</a:t>
            </a:r>
            <a:r>
              <a:rPr lang="pt-BR" sz="1600" dirty="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 </a:t>
            </a:r>
            <a:r>
              <a:rPr lang="pt-BR" sz="16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no </a:t>
            </a:r>
            <a:r>
              <a:rPr lang="pt-BR" sz="1600" dirty="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IPU </a:t>
            </a:r>
            <a:r>
              <a:rPr lang="pt-BR" sz="16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1 do 1º sem. e executar o valor total de R$ 562 MM no 2º sem/2026 no IPU 0</a:t>
            </a:r>
            <a:endParaRPr lang="pt-BR" sz="160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191B250-1B14-E311-AB5A-D326F2D63303}"/>
              </a:ext>
            </a:extLst>
          </p:cNvPr>
          <p:cNvSpPr/>
          <p:nvPr/>
        </p:nvSpPr>
        <p:spPr>
          <a:xfrm>
            <a:off x="2002971" y="3686627"/>
            <a:ext cx="4278085" cy="2296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TCE não aceitar gastos em IPU 1 e exigir que o </a:t>
            </a:r>
            <a:r>
              <a:rPr lang="pt-BR" sz="16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valor total dos 30% (R$ 562 MM) sejam executado em IPU 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641A221-9A24-5A31-5A77-EFF1404385D5}"/>
              </a:ext>
            </a:extLst>
          </p:cNvPr>
          <p:cNvSpPr/>
          <p:nvPr/>
        </p:nvSpPr>
        <p:spPr>
          <a:xfrm>
            <a:off x="7398658" y="3679370"/>
            <a:ext cx="4292599" cy="27468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Desvincula execução financeira da abertura das matrículas de expansão. </a:t>
            </a:r>
            <a:endParaRPr lang="pt-BR" sz="16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Divergência entre a execução real  (R$ 200 MM) e a execução demonstrada na prestação de contas (R$ 6 MM).</a:t>
            </a:r>
            <a:endParaRPr lang="pt-BR" sz="16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Pode enfraquecer a argumentação jurídica de que a meta já estava cumprida no início do ano.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Resolver no TCE, mas prejudicar uma judicialização posterior.</a:t>
            </a:r>
            <a:endParaRPr lang="pt-BR" sz="16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D72284E-E65C-1F81-950D-94FE8DA54D40}"/>
              </a:ext>
            </a:extLst>
          </p:cNvPr>
          <p:cNvSpPr/>
          <p:nvPr/>
        </p:nvSpPr>
        <p:spPr>
          <a:xfrm>
            <a:off x="2002971" y="2746829"/>
            <a:ext cx="4169228" cy="5261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600">
                <a:solidFill>
                  <a:srgbClr val="000000"/>
                </a:solidFill>
                <a:ea typeface="Calibri"/>
                <a:cs typeface="Calibri"/>
              </a:rPr>
              <a:t>Elaborar</a:t>
            </a:r>
            <a:r>
              <a:rPr lang="pt-BR" sz="1600" dirty="0">
                <a:solidFill>
                  <a:srgbClr val="000000"/>
                </a:solidFill>
                <a:ea typeface="Calibri"/>
                <a:cs typeface="Calibri"/>
              </a:rPr>
              <a:t> Nota Técnica </a:t>
            </a:r>
            <a:r>
              <a:rPr lang="pt-BR" sz="1600">
                <a:solidFill>
                  <a:srgbClr val="000000"/>
                </a:solidFill>
                <a:ea typeface="Calibri"/>
                <a:cs typeface="Calibri"/>
              </a:rPr>
              <a:t>explicando a execução em IPU 1 sem marcador </a:t>
            </a:r>
            <a:r>
              <a:rPr lang="pt-BR" sz="1600" err="1">
                <a:solidFill>
                  <a:srgbClr val="000000"/>
                </a:solidFill>
                <a:ea typeface="Calibri"/>
                <a:cs typeface="Calibri"/>
              </a:rPr>
              <a:t>Propag</a:t>
            </a:r>
            <a:endParaRPr lang="pt-BR" sz="1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D855CE3-8E86-19D2-77C0-E75F9961F3D5}"/>
              </a:ext>
            </a:extLst>
          </p:cNvPr>
          <p:cNvSpPr/>
          <p:nvPr/>
        </p:nvSpPr>
        <p:spPr>
          <a:xfrm>
            <a:off x="7398658" y="2373086"/>
            <a:ext cx="4321628" cy="1273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  <a:ea typeface="Calibri"/>
                <a:cs typeface="Calibri"/>
              </a:rPr>
              <a:t>Necessário alterar Plano de Aplicação enviado ao MEC em junho. </a:t>
            </a:r>
            <a:endParaRPr lang="pt-BR" sz="16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  <a:ea typeface="Calibri"/>
                <a:cs typeface="Calibri"/>
              </a:rPr>
              <a:t>Inclusão de gastos complementares no Plano (não diretamente </a:t>
            </a:r>
            <a:r>
              <a:rPr lang="pt-BR" sz="1600">
                <a:solidFill>
                  <a:srgbClr val="000000"/>
                </a:solidFill>
                <a:ea typeface="Calibri"/>
                <a:cs typeface="Calibri"/>
              </a:rPr>
              <a:t>relacionados a expansão). </a:t>
            </a:r>
            <a:endParaRPr lang="pt-BR" sz="1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0F9D108-007F-6E08-F9C2-D23038A2AE66}"/>
              </a:ext>
            </a:extLst>
          </p:cNvPr>
          <p:cNvSpPr/>
          <p:nvPr/>
        </p:nvSpPr>
        <p:spPr>
          <a:xfrm>
            <a:off x="152399" y="2674257"/>
            <a:ext cx="1705428" cy="500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b="1" dirty="0">
                <a:solidFill>
                  <a:srgbClr val="000000"/>
                </a:solidFill>
                <a:ea typeface="Calibri"/>
                <a:cs typeface="Calibri"/>
              </a:rPr>
              <a:t>Consequências</a:t>
            </a:r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FA38103-C670-98EA-6B1D-DDED06198F71}"/>
              </a:ext>
            </a:extLst>
          </p:cNvPr>
          <p:cNvSpPr/>
          <p:nvPr/>
        </p:nvSpPr>
        <p:spPr>
          <a:xfrm>
            <a:off x="3627" y="6411685"/>
            <a:ext cx="12322628" cy="449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000000"/>
                </a:solidFill>
                <a:ea typeface="Calibri"/>
                <a:cs typeface="Calibri"/>
              </a:rPr>
              <a:t>Obs.: SEE encaminhou o Ofício XXX/2026 solicitando ampliação do prazo para lançamento do Plano no </a:t>
            </a:r>
            <a:r>
              <a:rPr lang="pt-BR" sz="1400" dirty="0" err="1">
                <a:solidFill>
                  <a:srgbClr val="000000"/>
                </a:solidFill>
                <a:ea typeface="Calibri"/>
                <a:cs typeface="Calibri"/>
              </a:rPr>
              <a:t>Sistec</a:t>
            </a:r>
            <a:r>
              <a:rPr lang="pt-BR" sz="1400" dirty="0">
                <a:solidFill>
                  <a:srgbClr val="000000"/>
                </a:solidFill>
                <a:ea typeface="Calibri"/>
                <a:cs typeface="Calibri"/>
              </a:rPr>
              <a:t>. Prazo inicial: 15/07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B1D787C3-9D36-39B2-8334-3330CCAEAD48}"/>
              </a:ext>
            </a:extLst>
          </p:cNvPr>
          <p:cNvCxnSpPr>
            <a:cxnSpLocks/>
          </p:cNvCxnSpPr>
          <p:nvPr/>
        </p:nvCxnSpPr>
        <p:spPr>
          <a:xfrm>
            <a:off x="175357" y="2412998"/>
            <a:ext cx="11520000" cy="108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0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15F1-41B9-CF6D-464F-F79727EF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098A87F0-95E6-47A4-2195-BB908B932022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8E893E6-723C-4974-A3F7-CCAB99D66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8970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400"/>
              </a:spcAft>
              <a:buNone/>
              <a:defRPr/>
            </a:pPr>
            <a:r>
              <a:rPr lang="pt-BR" altLang="pt-BR" sz="2400" b="1" cap="all">
                <a:solidFill>
                  <a:srgbClr val="ED7D31"/>
                </a:solidFill>
                <a:latin typeface="Trebuchet MS"/>
                <a:ea typeface="ＭＳ Ｐゴシック"/>
              </a:rPr>
              <a:t>Plano de aplicação – EXECUÇÃO ORÇAMENTÁRIA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B0E03D9-3FFC-6D6C-8D9E-93E6B2A809A9}"/>
              </a:ext>
            </a:extLst>
          </p:cNvPr>
          <p:cNvSpPr/>
          <p:nvPr/>
        </p:nvSpPr>
        <p:spPr>
          <a:xfrm>
            <a:off x="358644" y="1089706"/>
            <a:ext cx="6923314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b="1" dirty="0">
                <a:solidFill>
                  <a:srgbClr val="000000"/>
                </a:solidFill>
                <a:ea typeface="Calibri"/>
                <a:cs typeface="Calibri"/>
              </a:rPr>
              <a:t>Panorama de Execução do 1º semestre – Valores em milhões de R$</a:t>
            </a:r>
            <a:endParaRPr lang="pt-BR" b="1" dirty="0">
              <a:solidFill>
                <a:srgbClr val="0000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E5FF99-90D7-D464-BA55-3E04D1B96CA2}"/>
              </a:ext>
            </a:extLst>
          </p:cNvPr>
          <p:cNvSpPr txBox="1"/>
          <p:nvPr/>
        </p:nvSpPr>
        <p:spPr>
          <a:xfrm>
            <a:off x="0" y="4675143"/>
            <a:ext cx="12192000" cy="11798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>
              <a:spcBef>
                <a:spcPts val="200"/>
              </a:spcBef>
              <a:spcAft>
                <a:spcPts val="200"/>
              </a:spcAft>
            </a:pPr>
            <a:r>
              <a:rPr lang="pt-BR" sz="1600" dirty="0">
                <a:ea typeface="Calibri"/>
                <a:cs typeface="Calibri"/>
              </a:rPr>
              <a:t>* Considera a distribuição aprovada na última agenda com o Governador (Cenário - 30%/70%);</a:t>
            </a:r>
          </a:p>
          <a:p>
            <a:pPr marL="342900">
              <a:spcBef>
                <a:spcPts val="200"/>
              </a:spcBef>
              <a:spcAft>
                <a:spcPts val="200"/>
              </a:spcAft>
            </a:pPr>
            <a:r>
              <a:rPr lang="pt-BR" sz="1600" dirty="0">
                <a:ea typeface="Calibri"/>
                <a:cs typeface="Calibri"/>
              </a:rPr>
              <a:t>** Considera os dados de execução apurados pela SEF para a elaboração do balanço de prestação de contas e</a:t>
            </a:r>
          </a:p>
          <a:p>
            <a:pPr marL="342900">
              <a:spcBef>
                <a:spcPts val="200"/>
              </a:spcBef>
              <a:spcAft>
                <a:spcPts val="200"/>
              </a:spcAft>
            </a:pPr>
            <a:r>
              <a:rPr lang="pt-BR" sz="1600" dirty="0">
                <a:ea typeface="Calibri"/>
                <a:cs typeface="Calibri"/>
              </a:rPr>
              <a:t>*** Não computa dentro do plano R$</a:t>
            </a:r>
            <a:r>
              <a:rPr lang="pt-BR" sz="1600">
                <a:ea typeface="Calibri"/>
                <a:cs typeface="Calibri"/>
              </a:rPr>
              <a:t>221M autorizados </a:t>
            </a:r>
            <a:r>
              <a:rPr lang="pt-BR" sz="1600" dirty="0">
                <a:ea typeface="Calibri"/>
                <a:cs typeface="Calibri"/>
              </a:rPr>
              <a:t>no inicio do ano para a Infraestrutura e os R$610M aprovados no COFIN Infraestrutura, que por serem extra plano deverão impactar o Teto de Gastos.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6F442F0-4414-5DBA-854D-CB6C45E73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1" y="1592952"/>
            <a:ext cx="11965858" cy="256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8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61A5-DFDF-FBAC-A6ED-E94B637B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2A4EA0F-1B2B-E8FC-3FF0-5D182F4CF8D2}"/>
              </a:ext>
            </a:extLst>
          </p:cNvPr>
          <p:cNvSpPr/>
          <p:nvPr/>
        </p:nvSpPr>
        <p:spPr>
          <a:xfrm>
            <a:off x="520011" y="3147038"/>
            <a:ext cx="9575278" cy="980638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pt-BR" sz="4000" b="1">
                <a:solidFill>
                  <a:srgbClr val="C00000"/>
                </a:solidFill>
                <a:latin typeface="Trebuchet MS"/>
              </a:rPr>
              <a:t>Estratégia de Judicialização</a:t>
            </a:r>
            <a:endParaRPr lang="pt-BR" sz="1400">
              <a:solidFill>
                <a:srgbClr val="C00000"/>
              </a:solidFill>
            </a:endParaRPr>
          </a:p>
          <a:p>
            <a:endParaRPr lang="pt-BR" sz="4000">
              <a:solidFill>
                <a:srgbClr val="C00000"/>
              </a:solidFill>
              <a:latin typeface="Trebuchet MS" panose="020B0603020202020204" pitchFamily="34" charset="0"/>
            </a:endParaRPr>
          </a:p>
          <a:p>
            <a:endParaRPr lang="pt-BR" sz="4000">
              <a:solidFill>
                <a:srgbClr val="C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6848AB9-FC59-CC77-A5FB-14F83E35E33F}"/>
              </a:ext>
            </a:extLst>
          </p:cNvPr>
          <p:cNvSpPr/>
          <p:nvPr/>
        </p:nvSpPr>
        <p:spPr>
          <a:xfrm>
            <a:off x="382125" y="2839709"/>
            <a:ext cx="143000" cy="13630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7BF480-A053-3E0E-59DC-EF0DECE87E7D}"/>
              </a:ext>
            </a:extLst>
          </p:cNvPr>
          <p:cNvSpPr/>
          <p:nvPr/>
        </p:nvSpPr>
        <p:spPr>
          <a:xfrm>
            <a:off x="680815" y="3897029"/>
            <a:ext cx="10636145" cy="1280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2000" b="1">
                <a:solidFill>
                  <a:schemeClr val="tx1"/>
                </a:solidFill>
              </a:rPr>
              <a:t>Coordenação: </a:t>
            </a:r>
            <a:r>
              <a:rPr lang="pt-BR" sz="2000">
                <a:solidFill>
                  <a:schemeClr val="tx1"/>
                </a:solidFill>
              </a:rPr>
              <a:t>Dr. Arthur Paixão e Dr. Mário Eduardo Nepomuceno</a:t>
            </a:r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21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ACBA-81F2-75E6-DF5A-F75984549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ixaDeTexto 31">
            <a:extLst>
              <a:ext uri="{FF2B5EF4-FFF2-40B4-BE49-F238E27FC236}">
                <a16:creationId xmlns:a16="http://schemas.microsoft.com/office/drawing/2014/main" id="{05816E54-04BF-5E3E-6D33-BD738E716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>
                <a:solidFill>
                  <a:srgbClr val="C00000"/>
                </a:solidFill>
                <a:latin typeface="Trebuchet MS"/>
                <a:ea typeface="ＭＳ Ｐゴシック"/>
                <a:cs typeface="Calibri" panose="020F0502020204030204"/>
              </a:rPr>
              <a:t>Judicialização</a:t>
            </a:r>
          </a:p>
        </p:txBody>
      </p:sp>
      <p:cxnSp>
        <p:nvCxnSpPr>
          <p:cNvPr id="10" name="Conector reto 4">
            <a:extLst>
              <a:ext uri="{FF2B5EF4-FFF2-40B4-BE49-F238E27FC236}">
                <a16:creationId xmlns:a16="http://schemas.microsoft.com/office/drawing/2014/main" id="{B23450DE-104C-4495-32E4-608A320775F8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6EB0C4-78C4-99BE-FDAD-629FF1EBC85B}"/>
              </a:ext>
            </a:extLst>
          </p:cNvPr>
          <p:cNvSpPr txBox="1"/>
          <p:nvPr/>
        </p:nvSpPr>
        <p:spPr>
          <a:xfrm>
            <a:off x="360740" y="1458686"/>
            <a:ext cx="11101916" cy="31598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>
              <a:spcBef>
                <a:spcPts val="200"/>
              </a:spcBef>
              <a:spcAft>
                <a:spcPts val="200"/>
              </a:spcAft>
            </a:pPr>
            <a:r>
              <a:rPr lang="pt-BR" sz="2200" b="1" dirty="0">
                <a:ea typeface="Calibri"/>
                <a:cs typeface="Calibri"/>
              </a:rPr>
              <a:t>Pauta</a:t>
            </a:r>
            <a:endParaRPr lang="pt-BR" sz="2200" dirty="0">
              <a:ea typeface="Calibri"/>
              <a:cs typeface="Calibri"/>
            </a:endParaRPr>
          </a:p>
          <a:p>
            <a:pPr marL="342900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pt-BR" sz="2200" dirty="0">
                <a:ea typeface="Calibri"/>
                <a:cs typeface="Calibri"/>
              </a:rPr>
              <a:t> Defesa das contas do Governador (exercício de 2025)</a:t>
            </a:r>
          </a:p>
          <a:p>
            <a:pPr marL="1143000" lvl="1" indent="-342900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pt-BR" sz="2200" dirty="0">
                <a:ea typeface="Calibri"/>
                <a:cs typeface="Calibri"/>
              </a:rPr>
              <a:t>BALANÇO GERAL DO ESTADO – Exercício 2025.</a:t>
            </a:r>
          </a:p>
          <a:p>
            <a:pPr marL="1143000" lvl="1" indent="-342900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pt-BR" sz="2200" dirty="0">
                <a:ea typeface="Calibri"/>
                <a:cs typeface="Calibri"/>
              </a:rPr>
              <a:t>Processo TCE 1210489</a:t>
            </a:r>
          </a:p>
          <a:p>
            <a:pPr marL="1143000" lvl="1" indent="-342900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pt-BR" sz="2200" dirty="0">
                <a:ea typeface="Calibri"/>
                <a:cs typeface="Calibri"/>
              </a:rPr>
              <a:t>Relator: Conselheiro Gilberto Diniz.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sz="2200" dirty="0">
              <a:ea typeface="Calibri"/>
              <a:cs typeface="Calibri"/>
            </a:endParaRPr>
          </a:p>
          <a:p>
            <a:pPr marL="342900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pt-BR" sz="2200" dirty="0">
                <a:ea typeface="Calibri"/>
                <a:cs typeface="Calibri"/>
              </a:rPr>
              <a:t> Estratégia proposta de Judicialização</a:t>
            </a:r>
          </a:p>
          <a:p>
            <a:pPr marL="800100" lvl="1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pt-BR" sz="2200" dirty="0">
                <a:ea typeface="Calibri"/>
                <a:cs typeface="Calibri"/>
              </a:rPr>
              <a:t>    Medidas já distribuídas e teses para futuras ações.</a:t>
            </a:r>
          </a:p>
        </p:txBody>
      </p:sp>
    </p:spTree>
    <p:extLst>
      <p:ext uri="{BB962C8B-B14F-4D97-AF65-F5344CB8AC3E}">
        <p14:creationId xmlns:p14="http://schemas.microsoft.com/office/powerpoint/2010/main" val="302799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7880-5471-2AA5-EA21-709C2256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ixaDeTexto 31">
            <a:extLst>
              <a:ext uri="{FF2B5EF4-FFF2-40B4-BE49-F238E27FC236}">
                <a16:creationId xmlns:a16="http://schemas.microsoft.com/office/drawing/2014/main" id="{5867E809-BA9D-6324-9CD8-6A48A7DE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>
                <a:solidFill>
                  <a:srgbClr val="C00000"/>
                </a:solidFill>
                <a:latin typeface="Trebuchet MS"/>
                <a:ea typeface="ＭＳ Ｐゴシック"/>
                <a:cs typeface="Calibri" panose="020F0502020204030204"/>
              </a:rPr>
              <a:t>Defesa das contas do Governador (exercício de 2025)</a:t>
            </a:r>
            <a:endParaRPr lang="pt-BR">
              <a:solidFill>
                <a:srgbClr val="C00000"/>
              </a:solidFill>
            </a:endParaRPr>
          </a:p>
        </p:txBody>
      </p:sp>
      <p:cxnSp>
        <p:nvCxnSpPr>
          <p:cNvPr id="10" name="Conector reto 4">
            <a:extLst>
              <a:ext uri="{FF2B5EF4-FFF2-40B4-BE49-F238E27FC236}">
                <a16:creationId xmlns:a16="http://schemas.microsoft.com/office/drawing/2014/main" id="{C5BECFDC-8A99-26A8-6188-CDAE0D1DBCEB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B5758E-D818-BA3A-8EFC-BDFFD2AD21BB}"/>
              </a:ext>
            </a:extLst>
          </p:cNvPr>
          <p:cNvSpPr txBox="1"/>
          <p:nvPr/>
        </p:nvSpPr>
        <p:spPr>
          <a:xfrm>
            <a:off x="371323" y="1172633"/>
            <a:ext cx="10847916" cy="38420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ts val="200"/>
              </a:spcBef>
              <a:buFont typeface="Arial"/>
              <a:buChar char="•"/>
            </a:pPr>
            <a:r>
              <a:rPr lang="pt-BR" sz="2200" b="1" dirty="0">
                <a:solidFill>
                  <a:srgbClr val="C00000"/>
                </a:solidFill>
                <a:ea typeface="Calibri"/>
                <a:cs typeface="Calibri"/>
              </a:rPr>
              <a:t>MANIFESTAÇÃO</a:t>
            </a:r>
            <a:r>
              <a:rPr lang="pt-BR" sz="2200" dirty="0">
                <a:ea typeface="Calibri"/>
                <a:cs typeface="Calibri"/>
              </a:rPr>
              <a:t> apresentada no </a:t>
            </a:r>
            <a:r>
              <a:rPr lang="pt-BR" sz="2200" dirty="0" err="1">
                <a:ea typeface="Calibri"/>
                <a:cs typeface="Calibri"/>
              </a:rPr>
              <a:t>eTCE</a:t>
            </a:r>
            <a:r>
              <a:rPr lang="pt-BR" sz="2200" dirty="0">
                <a:ea typeface="Calibri"/>
                <a:cs typeface="Calibri"/>
              </a:rPr>
              <a:t>, em 14/07/2026.</a:t>
            </a:r>
          </a:p>
          <a:p>
            <a:pPr marL="342900" indent="-342900">
              <a:spcBef>
                <a:spcPts val="200"/>
              </a:spcBef>
              <a:buFont typeface="Arial"/>
              <a:buChar char="•"/>
            </a:pPr>
            <a:endParaRPr lang="pt-BR" sz="22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cs typeface="Arial" panose="020B0604020202020204" pitchFamily="34" charset="0"/>
              </a:rPr>
              <a:t>Versão aprovada em defesa da </a:t>
            </a:r>
            <a:r>
              <a:rPr lang="pt-BR" sz="2200" b="1" dirty="0">
                <a:solidFill>
                  <a:srgbClr val="C00000"/>
                </a:solidFill>
                <a:cs typeface="Arial" panose="020B0604020202020204" pitchFamily="34" charset="0"/>
              </a:rPr>
              <a:t>conta única </a:t>
            </a:r>
            <a:r>
              <a:rPr lang="pt-BR" sz="2200" dirty="0">
                <a:cs typeface="Arial" panose="020B0604020202020204" pitchFamily="34" charset="0"/>
              </a:rPr>
              <a:t>e não </a:t>
            </a:r>
            <a:r>
              <a:rPr lang="pt-BR" sz="2200" dirty="0">
                <a:solidFill>
                  <a:srgbClr val="000000"/>
                </a:solidFill>
                <a:cs typeface="Arial" panose="020B0604020202020204" pitchFamily="34" charset="0"/>
              </a:rPr>
              <a:t>conta corrente específica ou fundo público específico, com base na </a:t>
            </a:r>
            <a:r>
              <a:rPr lang="pt-BR" sz="2200" u="sng" dirty="0">
                <a:solidFill>
                  <a:srgbClr val="000000"/>
                </a:solidFill>
                <a:cs typeface="Arial" panose="020B0604020202020204" pitchFamily="34" charset="0"/>
              </a:rPr>
              <a:t>perda de vigência da </a:t>
            </a:r>
            <a:r>
              <a:rPr lang="pt-BR" sz="2200" u="sng" dirty="0">
                <a:cs typeface="Arial" panose="020B0604020202020204" pitchFamily="34" charset="0"/>
              </a:rPr>
              <a:t>Medida Provisória 1.295, de 14 de abril de 2025</a:t>
            </a:r>
            <a:r>
              <a:rPr lang="pt-BR" sz="2200" dirty="0">
                <a:cs typeface="Arial" panose="020B0604020202020204" pitchFamily="34" charset="0"/>
              </a:rPr>
              <a:t>, em data anterior à adesão do Estado de Minas Gerais ao PROPAG, perdendo fundamento legal a previsão do Art. 65 do Decreto Federal nº. 12.433/2025. Pedido eventual de modulação de efeitos.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cs typeface="Arial" panose="020B0604020202020204" pitchFamily="34" charset="0"/>
              </a:rPr>
              <a:t>Alinhamento com SEF para </a:t>
            </a:r>
            <a:r>
              <a:rPr lang="pt-BR" sz="2200" b="1" dirty="0">
                <a:cs typeface="Arial" panose="020B0604020202020204" pitchFamily="34" charset="0"/>
              </a:rPr>
              <a:t>não defender a exigência de “</a:t>
            </a:r>
            <a:r>
              <a:rPr lang="pt-BR" sz="2200" b="1" dirty="0">
                <a:solidFill>
                  <a:srgbClr val="C00000"/>
                </a:solidFill>
                <a:cs typeface="Arial" panose="020B0604020202020204" pitchFamily="34" charset="0"/>
              </a:rPr>
              <a:t>rendimentos</a:t>
            </a:r>
            <a:r>
              <a:rPr lang="pt-BR" sz="2200" b="1" dirty="0">
                <a:cs typeface="Arial" panose="020B0604020202020204" pitchFamily="34" charset="0"/>
              </a:rPr>
              <a:t>”</a:t>
            </a:r>
            <a:r>
              <a:rPr lang="pt-BR" sz="2200" dirty="0">
                <a:cs typeface="Arial" panose="020B0604020202020204" pitchFamily="34" charset="0"/>
              </a:rPr>
              <a:t>, pois, na eventualidade de risco de </a:t>
            </a:r>
            <a:r>
              <a:rPr lang="pt-BR" sz="2200" dirty="0" err="1">
                <a:cs typeface="Arial" panose="020B0604020202020204" pitchFamily="34" charset="0"/>
              </a:rPr>
              <a:t>desenquadramento</a:t>
            </a:r>
            <a:r>
              <a:rPr lang="pt-BR" sz="2200" dirty="0">
                <a:cs typeface="Arial" panose="020B0604020202020204" pitchFamily="34" charset="0"/>
              </a:rPr>
              <a:t> ou impugnação das contas, haveria conforto mais que suficiente nos recursos empregados com SEINFRA/DER e com SEE, para </a:t>
            </a:r>
            <a:r>
              <a:rPr lang="pt-BR" sz="2200" u="sng" dirty="0">
                <a:cs typeface="Arial" panose="020B0604020202020204" pitchFamily="34" charset="0"/>
              </a:rPr>
              <a:t>justificar, em data futura, a questão dos rendimentos</a:t>
            </a:r>
            <a:r>
              <a:rPr lang="pt-BR" sz="2200" dirty="0"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804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E7DD-B85C-96A9-5C57-EC2EBB48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ixaDeTexto 31">
            <a:extLst>
              <a:ext uri="{FF2B5EF4-FFF2-40B4-BE49-F238E27FC236}">
                <a16:creationId xmlns:a16="http://schemas.microsoft.com/office/drawing/2014/main" id="{EEEBACBD-E3BA-5E34-04BC-CA7157D22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>
                <a:solidFill>
                  <a:srgbClr val="C00000"/>
                </a:solidFill>
                <a:latin typeface="Trebuchet MS"/>
                <a:ea typeface="ＭＳ Ｐゴシック"/>
                <a:cs typeface="Calibri" panose="020F0502020204030204"/>
              </a:rPr>
              <a:t>Estratégia proposta de </a:t>
            </a:r>
            <a:r>
              <a:rPr lang="pt-BR" sz="2400" b="1" cap="all" dirty="0" err="1">
                <a:solidFill>
                  <a:srgbClr val="C00000"/>
                </a:solidFill>
                <a:latin typeface="Trebuchet MS"/>
                <a:ea typeface="ＭＳ Ｐゴシック"/>
                <a:cs typeface="Calibri" panose="020F0502020204030204"/>
              </a:rPr>
              <a:t>judicialização</a:t>
            </a:r>
            <a:r>
              <a:rPr lang="pt-BR" sz="2400" b="1" cap="all" dirty="0">
                <a:solidFill>
                  <a:srgbClr val="C00000"/>
                </a:solidFill>
                <a:latin typeface="Trebuchet MS"/>
                <a:ea typeface="ＭＳ Ｐゴシック"/>
                <a:cs typeface="Calibri" panose="020F0502020204030204"/>
              </a:rPr>
              <a:t> – Ações existentes</a:t>
            </a:r>
            <a:endParaRPr lang="pt-BR" dirty="0">
              <a:solidFill>
                <a:srgbClr val="C00000"/>
              </a:solidFill>
              <a:cs typeface="Calibri"/>
            </a:endParaRPr>
          </a:p>
        </p:txBody>
      </p:sp>
      <p:cxnSp>
        <p:nvCxnSpPr>
          <p:cNvPr id="10" name="Conector reto 4">
            <a:extLst>
              <a:ext uri="{FF2B5EF4-FFF2-40B4-BE49-F238E27FC236}">
                <a16:creationId xmlns:a16="http://schemas.microsoft.com/office/drawing/2014/main" id="{CB53FA7B-FD03-E3D7-23CE-5211843DD416}"/>
              </a:ext>
            </a:extLst>
          </p:cNvPr>
          <p:cNvCxnSpPr>
            <a:cxnSpLocks/>
          </p:cNvCxnSpPr>
          <p:nvPr/>
        </p:nvCxnSpPr>
        <p:spPr>
          <a:xfrm>
            <a:off x="156000" y="584980"/>
            <a:ext cx="11880000" cy="1437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0AADCBE-CB7A-7A14-0D23-2627FE7C54D7}"/>
              </a:ext>
            </a:extLst>
          </p:cNvPr>
          <p:cNvGraphicFramePr>
            <a:graphicFrameLocks noGrp="1"/>
          </p:cNvGraphicFramePr>
          <p:nvPr/>
        </p:nvGraphicFramePr>
        <p:xfrm>
          <a:off x="493013" y="1078482"/>
          <a:ext cx="11202925" cy="4979418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1114769">
                  <a:extLst>
                    <a:ext uri="{9D8B030D-6E8A-4147-A177-3AD203B41FA5}">
                      <a16:colId xmlns:a16="http://schemas.microsoft.com/office/drawing/2014/main" val="3173046600"/>
                    </a:ext>
                  </a:extLst>
                </a:gridCol>
                <a:gridCol w="3750028">
                  <a:extLst>
                    <a:ext uri="{9D8B030D-6E8A-4147-A177-3AD203B41FA5}">
                      <a16:colId xmlns:a16="http://schemas.microsoft.com/office/drawing/2014/main" val="3025575250"/>
                    </a:ext>
                  </a:extLst>
                </a:gridCol>
                <a:gridCol w="6338128">
                  <a:extLst>
                    <a:ext uri="{9D8B030D-6E8A-4147-A177-3AD203B41FA5}">
                      <a16:colId xmlns:a16="http://schemas.microsoft.com/office/drawing/2014/main" val="3075484448"/>
                    </a:ext>
                  </a:extLst>
                </a:gridCol>
              </a:tblGrid>
              <a:tr h="18575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MEDIDAS 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1A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OBJETO 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A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OBSERVAÇÕES 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97984"/>
                  </a:ext>
                </a:extLst>
              </a:tr>
              <a:tr h="141787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 722</a:t>
                      </a: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FUNDEF</a:t>
                      </a: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Ação transitou em julgado, estando em fase de cumprimento (25/05/2022), no valor de R$ 6.786.977.720,28.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 valor exequendo atualizado (fev./2024) de R$11.054.809.423,99.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Coordenadoria de Orçamento e Finanças do STF apurou o valor de </a:t>
                      </a:r>
                      <a:r>
                        <a:rPr lang="pt-BR" sz="1050" b="1" i="0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R$16.397.867.053,36 </a:t>
                      </a:r>
                      <a:r>
                        <a:rPr lang="pt-BR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(agosto/2025), usando a metodologia da ACO 660.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Petição de MINAS pela homologação da conta apresentada pela Coordenadoria de Orçamento e Finanças/STF e expedição do precatório ou, eventualmente, seja considerada a última conta de MINAS como parcela incontroversa face a ausência de cálculos da UNIÃO.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Resposta de MINAS ao Despacho STN SEI n° 56660234 para avançar com esse ativo no PROPAG.</a:t>
                      </a: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825241"/>
                  </a:ext>
                </a:extLst>
              </a:tr>
              <a:tr h="486118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 3646 </a:t>
                      </a: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Ingresso no PAFT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Relator Ministro NUNES MARQUES.</a:t>
                      </a:r>
                    </a:p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manutenção no PAFT é condição para o PROPAG.</a:t>
                      </a:r>
                    </a:p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Manifestação da AGU reconhecendo MINAS no PAFT.</a:t>
                      </a: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680813"/>
                  </a:ext>
                </a:extLst>
              </a:tr>
              <a:tr h="636298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 3687 </a:t>
                      </a:r>
                      <a:endParaRPr lang="pt-BR" sz="1050" b="1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Ação estrutural para assegurar o tratamento da dívida de MINAS com a UNIÃO na medida da capacidade do ente federado até que seja reestruturado o seu estado orçamentário e financeiro, com monitoramento pelo STF dentro do primado da amizade federativa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Ação distribuída à relatoria do Ministro NUNES MARQUES, mantida ativa com peticionamento mensal dos pagamentos realizados por MINAS (no RRF e, atualmente, no PROPAG). </a:t>
                      </a:r>
                    </a:p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Medida disponível para eventual uso em situação futura de necessidade de MINAS.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97147"/>
                  </a:ext>
                </a:extLst>
              </a:tr>
              <a:tr h="786478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 3757 </a:t>
                      </a:r>
                      <a:endParaRPr lang="pt-BR" sz="1050" b="1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COMPREV - Pedido para recebimento do valor devido a MINAS ou abatimento de sua dívida com a UNIÃO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Ação distribuída por dependência ao Ministro NUNES MARQUES </a:t>
                      </a:r>
                    </a:p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Abertura de vista a AGU para manifestação sobre a distribuição por dependência e pedido liminar. </a:t>
                      </a:r>
                    </a:p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Manifestação da AGU já apresentada rebatendo a conexão, alegando ausência da probabilidade do direito, inexistência de perigo de dano e justificando a permanência da sujeição à dotação orçamentária dos recursos do COMPREV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617264"/>
                  </a:ext>
                </a:extLst>
              </a:tr>
              <a:tr h="636298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 3762 </a:t>
                      </a:r>
                      <a:endParaRPr lang="pt-BR" sz="1050" b="1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Liberação do SISTEC/MEC para lançamento do Plano de Aplicação da Educação e registro de matrículas na rede estadual de educação profissional e tecnológica ou parcerias.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Ação distribuída ao Ministro GILMAR MENDES. </a:t>
                      </a:r>
                    </a:p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Processo concluso para despacho em 03/07/2026. </a:t>
                      </a:r>
                    </a:p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Eventual perda de objeto na hipótese de lançamento do Plano de Educação, liberação da aba “juros para educação” e registro das matrículas da expansão.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573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232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E7DD-B85C-96A9-5C57-EC2EBB48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ixaDeTexto 31">
            <a:extLst>
              <a:ext uri="{FF2B5EF4-FFF2-40B4-BE49-F238E27FC236}">
                <a16:creationId xmlns:a16="http://schemas.microsoft.com/office/drawing/2014/main" id="{EEEBACBD-E3BA-5E34-04BC-CA7157D22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0" y="116428"/>
            <a:ext cx="11669654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 dirty="0">
                <a:solidFill>
                  <a:srgbClr val="C00000"/>
                </a:solidFill>
                <a:latin typeface="Trebuchet MS"/>
                <a:ea typeface="ＭＳ Ｐゴシック"/>
                <a:cs typeface="Calibri" panose="020F0502020204030204"/>
              </a:rPr>
              <a:t>Estratégia proposta de </a:t>
            </a:r>
            <a:r>
              <a:rPr lang="pt-BR" sz="2400" b="1" cap="all" dirty="0" err="1">
                <a:solidFill>
                  <a:srgbClr val="C00000"/>
                </a:solidFill>
                <a:latin typeface="Trebuchet MS"/>
                <a:ea typeface="ＭＳ Ｐゴシック"/>
                <a:cs typeface="Calibri" panose="020F0502020204030204"/>
              </a:rPr>
              <a:t>judicialização</a:t>
            </a:r>
            <a:r>
              <a:rPr lang="pt-BR" sz="2400" b="1" cap="all" dirty="0">
                <a:solidFill>
                  <a:srgbClr val="C00000"/>
                </a:solidFill>
                <a:latin typeface="Trebuchet MS"/>
                <a:ea typeface="ＭＳ Ｐゴシック"/>
                <a:cs typeface="Calibri" panose="020F0502020204030204"/>
              </a:rPr>
              <a:t> – novas medidas junto ao </a:t>
            </a:r>
            <a:r>
              <a:rPr lang="pt-BR" sz="2400" b="1" cap="all" dirty="0" err="1">
                <a:solidFill>
                  <a:srgbClr val="C00000"/>
                </a:solidFill>
                <a:latin typeface="Trebuchet MS"/>
                <a:ea typeface="ＭＳ Ｐゴシック"/>
                <a:cs typeface="Calibri" panose="020F0502020204030204"/>
              </a:rPr>
              <a:t>stf</a:t>
            </a:r>
            <a:endParaRPr lang="pt-BR" dirty="0">
              <a:solidFill>
                <a:srgbClr val="C00000"/>
              </a:solidFill>
              <a:cs typeface="Calibri"/>
            </a:endParaRPr>
          </a:p>
        </p:txBody>
      </p:sp>
      <p:cxnSp>
        <p:nvCxnSpPr>
          <p:cNvPr id="10" name="Conector reto 4">
            <a:extLst>
              <a:ext uri="{FF2B5EF4-FFF2-40B4-BE49-F238E27FC236}">
                <a16:creationId xmlns:a16="http://schemas.microsoft.com/office/drawing/2014/main" id="{CB53FA7B-FD03-E3D7-23CE-5211843DD416}"/>
              </a:ext>
            </a:extLst>
          </p:cNvPr>
          <p:cNvCxnSpPr>
            <a:cxnSpLocks/>
          </p:cNvCxnSpPr>
          <p:nvPr/>
        </p:nvCxnSpPr>
        <p:spPr>
          <a:xfrm>
            <a:off x="156000" y="584980"/>
            <a:ext cx="11880000" cy="1437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63967DB-482A-4D97-6BEF-AC2EFBC06822}"/>
              </a:ext>
            </a:extLst>
          </p:cNvPr>
          <p:cNvGraphicFramePr>
            <a:graphicFrameLocks noGrp="1"/>
          </p:cNvGraphicFramePr>
          <p:nvPr/>
        </p:nvGraphicFramePr>
        <p:xfrm>
          <a:off x="493013" y="1123319"/>
          <a:ext cx="11202925" cy="3977949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1114769">
                  <a:extLst>
                    <a:ext uri="{9D8B030D-6E8A-4147-A177-3AD203B41FA5}">
                      <a16:colId xmlns:a16="http://schemas.microsoft.com/office/drawing/2014/main" val="3173046600"/>
                    </a:ext>
                  </a:extLst>
                </a:gridCol>
                <a:gridCol w="3732314">
                  <a:extLst>
                    <a:ext uri="{9D8B030D-6E8A-4147-A177-3AD203B41FA5}">
                      <a16:colId xmlns:a16="http://schemas.microsoft.com/office/drawing/2014/main" val="3025575250"/>
                    </a:ext>
                  </a:extLst>
                </a:gridCol>
                <a:gridCol w="6355842">
                  <a:extLst>
                    <a:ext uri="{9D8B030D-6E8A-4147-A177-3AD203B41FA5}">
                      <a16:colId xmlns:a16="http://schemas.microsoft.com/office/drawing/2014/main" val="3075484448"/>
                    </a:ext>
                  </a:extLst>
                </a:gridCol>
              </a:tblGrid>
              <a:tr h="192643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MEDIDAS </a:t>
                      </a:r>
                      <a:endParaRPr lang="pt-BR" sz="1050" b="1" i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1A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OBJETO </a:t>
                      </a:r>
                      <a:endParaRPr lang="pt-BR" sz="1050" b="1" i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A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OBSERVAÇÕES </a:t>
                      </a:r>
                      <a:endParaRPr lang="pt-BR" sz="1050" b="1" i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97984"/>
                  </a:ext>
                </a:extLst>
              </a:tr>
              <a:tr h="1407452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 (ou emenda à ACO 3762) </a:t>
                      </a:r>
                      <a:endParaRPr lang="pt-BR" sz="1050" b="1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Manutenção do acesso ao SISTEC/MEC, aceitação do Plano de Aplicação, acolhimento das matrículas de expansão, adoção dos dados do Censo 2025, utilização, tão somente, dos investimentos necessários para completar a meta de 183 mil matrículas (19 ou 112 mil), com 5,4% ou 30%, não exigência da frequência por ato dos alunos para contabilização das matrículas.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Avaliação da resposta/reação do MEC ao plano de aplicação lançado pela SEE no SISTEC e eventual limitação/restrição ao acesso de MINAS a aba “juros para educação”, bem como preservação do direito de MINAS à comprovação do atingimento da meta.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7214857"/>
                  </a:ext>
                </a:extLst>
              </a:tr>
              <a:tr h="75003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 </a:t>
                      </a:r>
                      <a:endParaRPr lang="pt-BR" sz="1050" b="1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Taxa de Desconto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Ajuizamento na hipótese da não utilização do IPCA a medida que os fluxos de recebíveis de MINAS forem sendo aceitos pela UNIÃO.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856949"/>
                  </a:ext>
                </a:extLst>
              </a:tr>
              <a:tr h="725570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 </a:t>
                      </a:r>
                      <a:endParaRPr lang="pt-BR" sz="1050" b="1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Teto de gastos </a:t>
                      </a:r>
                      <a:endParaRPr lang="pt-BR" sz="1050" b="0" i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Ajuizamento de ação para dispensar MINAS da exigência de lei estadual, no presente exercício, como exigido pela UNIÃO.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204936"/>
                  </a:ext>
                </a:extLst>
              </a:tr>
              <a:tr h="873315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 </a:t>
                      </a:r>
                      <a:endParaRPr lang="pt-BR" sz="1050" b="1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Defesa da ordem de apresentação de ativos, conforme Ofício de adesão de MINAS ao PROPAG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 rtl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05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Ajuizamento na hipótese da UNIÃO exigir a quebra da ordem da oferta de MINAS. </a:t>
                      </a:r>
                      <a:endParaRPr lang="pt-BR" sz="105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044" marR="53044" marT="26522" marB="26522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335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481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61A5-DFDF-FBAC-A6ED-E94B637B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2A4EA0F-1B2B-E8FC-3FF0-5D182F4CF8D2}"/>
              </a:ext>
            </a:extLst>
          </p:cNvPr>
          <p:cNvSpPr/>
          <p:nvPr/>
        </p:nvSpPr>
        <p:spPr>
          <a:xfrm>
            <a:off x="453625" y="3030924"/>
            <a:ext cx="9575278" cy="980638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pt-BR" sz="4800" b="1">
                <a:solidFill>
                  <a:srgbClr val="7030A0"/>
                </a:solidFill>
                <a:latin typeface="Trebuchet MS"/>
              </a:rPr>
              <a:t>Proposições legislativas</a:t>
            </a:r>
            <a:endParaRPr lang="pt-BR" sz="4800">
              <a:solidFill>
                <a:srgbClr val="7030A0"/>
              </a:solidFill>
              <a:latin typeface="Trebuchet MS" panose="020B0603020202020204" pitchFamily="34" charset="0"/>
            </a:endParaRPr>
          </a:p>
          <a:p>
            <a:endParaRPr lang="pt-BR" sz="480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6848AB9-FC59-CC77-A5FB-14F83E35E33F}"/>
              </a:ext>
            </a:extLst>
          </p:cNvPr>
          <p:cNvSpPr/>
          <p:nvPr/>
        </p:nvSpPr>
        <p:spPr>
          <a:xfrm>
            <a:off x="382125" y="2839709"/>
            <a:ext cx="143000" cy="136306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4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7BF480-A053-3E0E-59DC-EF0DECE87E7D}"/>
              </a:ext>
            </a:extLst>
          </p:cNvPr>
          <p:cNvSpPr/>
          <p:nvPr/>
        </p:nvSpPr>
        <p:spPr>
          <a:xfrm>
            <a:off x="763276" y="3935129"/>
            <a:ext cx="10636145" cy="1280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pt-BR" sz="2000" b="1">
                <a:solidFill>
                  <a:schemeClr val="tx1"/>
                </a:solidFill>
              </a:rPr>
              <a:t>Coordenação: </a:t>
            </a:r>
            <a:r>
              <a:rPr lang="pt-BR" sz="2000">
                <a:solidFill>
                  <a:schemeClr val="tx1"/>
                </a:solidFill>
              </a:rPr>
              <a:t>Castellar Neto e Danielle Baracho</a:t>
            </a:r>
          </a:p>
        </p:txBody>
      </p:sp>
    </p:spTree>
    <p:extLst>
      <p:ext uri="{BB962C8B-B14F-4D97-AF65-F5344CB8AC3E}">
        <p14:creationId xmlns:p14="http://schemas.microsoft.com/office/powerpoint/2010/main" val="177705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80A7-5D26-0C57-06B3-C3569BB0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to 4">
            <a:extLst>
              <a:ext uri="{FF2B5EF4-FFF2-40B4-BE49-F238E27FC236}">
                <a16:creationId xmlns:a16="http://schemas.microsoft.com/office/drawing/2014/main" id="{3ED7ADE3-D49B-1E33-8F21-686AF2A6E0BF}"/>
              </a:ext>
            </a:extLst>
          </p:cNvPr>
          <p:cNvCxnSpPr>
            <a:cxnSpLocks/>
          </p:cNvCxnSpPr>
          <p:nvPr/>
        </p:nvCxnSpPr>
        <p:spPr>
          <a:xfrm>
            <a:off x="156000" y="657551"/>
            <a:ext cx="11880000" cy="1437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6B2F7F2-B40B-12F1-ED7E-31FF99A77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257" y="116428"/>
            <a:ext cx="10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pt-BR" sz="2400" b="1" cap="all">
                <a:solidFill>
                  <a:srgbClr val="7030A0"/>
                </a:solidFill>
                <a:latin typeface="Trebuchet MS"/>
                <a:ea typeface="ＭＳ Ｐゴシック"/>
              </a:rPr>
              <a:t>PROPOSIÇÕES LEGISLATIVAS</a:t>
            </a:r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308400" y="1915784"/>
            <a:ext cx="10671658" cy="1897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spcBef>
                <a:spcPts val="400"/>
              </a:spcBef>
              <a:spcAft>
                <a:spcPts val="200"/>
              </a:spcAft>
              <a:buClr>
                <a:srgbClr val="7030A0"/>
              </a:buClr>
            </a:pPr>
            <a:r>
              <a:rPr lang="pt-BR" sz="2800">
                <a:solidFill>
                  <a:schemeClr val="tx1"/>
                </a:solidFill>
                <a:ea typeface="Calibri"/>
                <a:cs typeface="Calibri"/>
              </a:rPr>
              <a:t>Precisamos aprovar: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endParaRPr lang="pt-BR" sz="280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spcBef>
                <a:spcPts val="400"/>
              </a:spcBef>
              <a:spcAft>
                <a:spcPts val="200"/>
              </a:spcAft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pt-BR" sz="280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pt-BR" sz="2700">
                <a:solidFill>
                  <a:schemeClr val="tx1"/>
                </a:solidFill>
                <a:ea typeface="+mn-lt"/>
                <a:cs typeface="+mn-lt"/>
              </a:rPr>
              <a:t>Teto de Gastos - vamos iniciar as tratativas após as eleições</a:t>
            </a:r>
            <a:endParaRPr lang="pt-BR" sz="270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40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pt-BR" sz="2700">
                <a:solidFill>
                  <a:schemeClr val="tx1"/>
                </a:solidFill>
                <a:ea typeface="+mn-lt"/>
                <a:cs typeface="+mn-lt"/>
              </a:rPr>
              <a:t> ⁠Crédito suplementar da desestatização da Copasa</a:t>
            </a:r>
          </a:p>
        </p:txBody>
      </p:sp>
    </p:spTree>
    <p:extLst>
      <p:ext uri="{BB962C8B-B14F-4D97-AF65-F5344CB8AC3E}">
        <p14:creationId xmlns:p14="http://schemas.microsoft.com/office/powerpoint/2010/main" val="18797505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D58FADB61F04EBBB4F355C06EFBED" ma:contentTypeVersion="19" ma:contentTypeDescription="Crie um novo documento." ma:contentTypeScope="" ma:versionID="b1e0f6055e0e9a4b9e75d6c71ee7de91">
  <xsd:schema xmlns:xsd="http://www.w3.org/2001/XMLSchema" xmlns:xs="http://www.w3.org/2001/XMLSchema" xmlns:p="http://schemas.microsoft.com/office/2006/metadata/properties" xmlns:ns2="6f4338ef-addb-4c87-aefe-1895241b335f" xmlns:ns3="b91e7f20-fe0a-487d-91a9-605ac1c64acf" targetNamespace="http://schemas.microsoft.com/office/2006/metadata/properties" ma:root="true" ma:fieldsID="b43930f3490e4d4da1ab3f8da7df6f51" ns2:_="" ns3:_="">
    <xsd:import namespace="6f4338ef-addb-4c87-aefe-1895241b335f"/>
    <xsd:import namespace="b91e7f20-fe0a-487d-91a9-605ac1c64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338ef-addb-4c87-aefe-1895241b3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917d32f3-4fa4-4f5b-a8d0-62dbd3d265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e7f20-fe0a-487d-91a9-605ac1c64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8708050-f001-4dcd-9fe1-c60e835c33fc}" ma:internalName="TaxCatchAll" ma:showField="CatchAllData" ma:web="b91e7f20-fe0a-487d-91a9-605ac1c64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1e7f20-fe0a-487d-91a9-605ac1c64acf" xsi:nil="true"/>
    <lcf76f155ced4ddcb4097134ff3c332f xmlns="6f4338ef-addb-4c87-aefe-1895241b335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F353147-C6E2-4858-AB1F-E21E51C39873}"/>
</file>

<file path=customXml/itemProps2.xml><?xml version="1.0" encoding="utf-8"?>
<ds:datastoreItem xmlns:ds="http://schemas.openxmlformats.org/officeDocument/2006/customXml" ds:itemID="{03A44B0B-D4BD-4A60-9141-24776A7557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979728-2076-4C4B-9DF4-C198F22BF243}">
  <ds:schemaRefs>
    <ds:schemaRef ds:uri="9130dfcb-b4a9-4659-a000-3866fb0c64c6"/>
    <ds:schemaRef ds:uri="ad1a0d50-b04c-47c2-aecf-ce05d35f4ea1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1252</Words>
  <Application>Microsoft Office PowerPoint</Application>
  <PresentationFormat>Widescreen</PresentationFormat>
  <Paragraphs>110</Paragraphs>
  <Slides>12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Arial,Sans-Serif</vt:lpstr>
      <vt:lpstr>Calibri</vt:lpstr>
      <vt:lpstr>Calibri Light</vt:lpstr>
      <vt:lpstr>Trebuchet MS</vt:lpstr>
      <vt:lpstr>Tema do Office</vt:lpstr>
      <vt:lpstr>REUNIÃO DE STATUS PROPAG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Carolina Schiavon Cordeiro</dc:creator>
  <cp:lastModifiedBy>Viviane Nascimento</cp:lastModifiedBy>
  <cp:revision>206</cp:revision>
  <dcterms:created xsi:type="dcterms:W3CDTF">2025-01-22T13:19:17Z</dcterms:created>
  <dcterms:modified xsi:type="dcterms:W3CDTF">2026-07-16T13:24:43Z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0x010100B08D58FADB61F04EBBB4F355C06EFBED</vt:lpwstr>
  </property>
  <property fmtid="{D5CDD505-2E9C-101B-9397-08002B2CF9AE}" pid="3" name="MediaServiceImageTags">
    <vt:lpwstr/>
  </property>
</Properties>
</file>