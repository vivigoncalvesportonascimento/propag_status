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1421" r:id="rId5"/>
    <p:sldId id="3063" r:id="rId6"/>
    <p:sldId id="3076" r:id="rId7"/>
    <p:sldId id="3077" r:id="rId8"/>
    <p:sldId id="3068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1341D5-914E-CCAF-2D45-50DF5F8CCDF6}" name="Ana Carolina Schiavon Cordeiro" initials="AS" userId="S::M752979@ca.mg.gov.br::f74f076c-a35f-4e75-b102-dae2e585dfb2" providerId="AD"/>
  <p188:author id="{542FFFFB-E694-9F6F-8D8D-913E64761CEA}" name="Isabelle Colares Ali Ganem (SEPLAG)" initials="I(" userId="S::m752885@ca.mg.gov.br::373c2fa1-303b-49f4-8f45-dcfb2e257f2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CFD5EA"/>
    <a:srgbClr val="FFBD58"/>
    <a:srgbClr val="ED7D31"/>
    <a:srgbClr val="DAE3F3"/>
    <a:srgbClr val="FFF4E7"/>
    <a:srgbClr val="D0D0D0"/>
    <a:srgbClr val="F5E6FE"/>
    <a:srgbClr val="EBCBFD"/>
    <a:srgbClr val="FFD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13A7EB-9645-D10D-7D9D-3343674EE23C}" v="149" dt="2026-02-11T19:48:32.117"/>
    <p1510:client id="{8C03EE1A-3486-43D6-B032-B6BD90C9DDE5}" v="20" dt="2026-02-11T19:15:29.6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09" autoAdjust="0"/>
    <p:restoredTop sz="90073" autoAdjust="0"/>
  </p:normalViewPr>
  <p:slideViewPr>
    <p:cSldViewPr snapToGrid="0">
      <p:cViewPr varScale="1">
        <p:scale>
          <a:sx n="66" d="100"/>
          <a:sy n="66" d="100"/>
        </p:scale>
        <p:origin x="1579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Magno Parreiras de Sousa (SEPLAG)" userId="S::m7524689@ca.mg.gov.br::86c0c464-8cc7-4f98-9117-7a7ecf4c6512" providerId="AD" clId="Web-{5E13A7EB-9645-D10D-7D9D-3343674EE23C}"/>
    <pc:docChg chg="modSld">
      <pc:chgData name="Felipe Magno Parreiras de Sousa (SEPLAG)" userId="S::m7524689@ca.mg.gov.br::86c0c464-8cc7-4f98-9117-7a7ecf4c6512" providerId="AD" clId="Web-{5E13A7EB-9645-D10D-7D9D-3343674EE23C}" dt="2026-02-11T19:48:32.117" v="77" actId="20577"/>
      <pc:docMkLst>
        <pc:docMk/>
      </pc:docMkLst>
      <pc:sldChg chg="modSp">
        <pc:chgData name="Felipe Magno Parreiras de Sousa (SEPLAG)" userId="S::m7524689@ca.mg.gov.br::86c0c464-8cc7-4f98-9117-7a7ecf4c6512" providerId="AD" clId="Web-{5E13A7EB-9645-D10D-7D9D-3343674EE23C}" dt="2026-02-11T19:47:01.614" v="3" actId="20577"/>
        <pc:sldMkLst>
          <pc:docMk/>
          <pc:sldMk cId="3696164349" sldId="3076"/>
        </pc:sldMkLst>
        <pc:spChg chg="mod">
          <ac:chgData name="Felipe Magno Parreiras de Sousa (SEPLAG)" userId="S::m7524689@ca.mg.gov.br::86c0c464-8cc7-4f98-9117-7a7ecf4c6512" providerId="AD" clId="Web-{5E13A7EB-9645-D10D-7D9D-3343674EE23C}" dt="2026-02-11T19:47:01.614" v="3" actId="20577"/>
          <ac:spMkLst>
            <pc:docMk/>
            <pc:sldMk cId="3696164349" sldId="3076"/>
            <ac:spMk id="2" creationId="{8A41D2E1-29B8-05C9-C7E5-122C01386DC1}"/>
          </ac:spMkLst>
        </pc:spChg>
      </pc:sldChg>
      <pc:sldChg chg="modSp">
        <pc:chgData name="Felipe Magno Parreiras de Sousa (SEPLAG)" userId="S::m7524689@ca.mg.gov.br::86c0c464-8cc7-4f98-9117-7a7ecf4c6512" providerId="AD" clId="Web-{5E13A7EB-9645-D10D-7D9D-3343674EE23C}" dt="2026-02-11T19:48:32.117" v="77" actId="20577"/>
        <pc:sldMkLst>
          <pc:docMk/>
          <pc:sldMk cId="1777572088" sldId="3077"/>
        </pc:sldMkLst>
        <pc:spChg chg="mod">
          <ac:chgData name="Felipe Magno Parreiras de Sousa (SEPLAG)" userId="S::m7524689@ca.mg.gov.br::86c0c464-8cc7-4f98-9117-7a7ecf4c6512" providerId="AD" clId="Web-{5E13A7EB-9645-D10D-7D9D-3343674EE23C}" dt="2026-02-11T19:48:32.117" v="77" actId="20577"/>
          <ac:spMkLst>
            <pc:docMk/>
            <pc:sldMk cId="1777572088" sldId="3077"/>
            <ac:spMk id="9" creationId="{B7B16E4A-BA74-E35D-81D4-09B0EF7D122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02024-0846-4A07-AA15-64C15DB4B1F9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3743DD-3F40-4AFA-93FA-C64F4B7AC8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03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9ADC7-D803-7496-B6F1-3072D60D0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E53D399-75D6-5674-14C8-975E86A56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9B80303-F2C8-478B-56A0-2DB188B41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1048A2-B5F5-4FDE-D96A-8E6F0D1D6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326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2A6D4-B1CC-393D-C2F4-E3FF8C647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936288E-01AC-381F-C2CF-E0BAE0156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8F41A81-F203-80F9-3FC5-CC8B8AC72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EECAC96-2962-AE46-7772-3EA362C5E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92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AB6CD-DE61-095F-52FA-669392EA1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ADD30C-42E7-5AD6-DE41-C43E2258E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6E99449-F59F-5A7E-58A2-6895C9E58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25B627-F55B-2483-2988-DBCCA877A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0088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CBA47-C03D-6FE1-A2B1-BA7776900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2F5A9E1-E000-1D4A-FBAC-2343C40EF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51262D2-B39C-EAC0-F4A4-5EF5B7951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35644A-1EF6-B986-FF4F-99891E091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480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F247A-855D-0290-0010-419398ECE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CE2039-A178-8586-BBEA-8D7D64419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FF95E9-565F-3501-1270-AAFA634D1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5EA7AA-4982-011C-383C-7C112D46B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919A59-760C-FAC8-CCFB-F1A713C0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5953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F112A-DA73-AD9F-2AC6-E7F16FCB8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68BEB8-6135-FA1F-EFD9-B0AA56C82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90166F-79BB-B47D-2F5B-D668B1FB5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15FB39-F78A-4321-33DD-D9F7E4062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02DC00-429D-2491-8AA6-CA23E078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35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E061F-B912-7B77-219A-50C1ACBA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616084-D224-EC8F-38DF-301781E9E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59C134-5B54-7FDE-2235-72064C1C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50A1C7-FF72-BD2F-2AE8-3FB186C7D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4064AA-3BCA-1E08-9305-063E04AC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989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EDE9D-EE67-7631-1CC9-268A6DE1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DB5FAB-126D-AC06-3E9D-BA8932FB0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1025CB-D93F-2AD5-A696-B05FEFBED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F1D487-B675-6414-A261-6C22F5EE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FC808A-1785-DE4D-7308-F56DFC79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34738A-7E6E-C306-E3DE-845F594F0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2507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6E260-042E-304D-EC1E-7391805BD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1DC367-6F82-F39A-C696-D7BD7C3F3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3F6E56-6410-1C94-C1DB-715A69297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891A7A-ECA5-8450-9F2E-B2AEF0E49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E4709E0-D605-9C86-F552-489AA4AAF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F2849B3-644C-95FA-31DE-D4F04D4C5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9F75F97-E10E-3580-9F4C-40D066AFC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EA0D33E-CAB3-F810-F2FE-CB6CA439B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73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B200F5-2DC5-027A-2CC7-DDAEC7DE7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31F13E-F3F0-C33C-EE09-7CFC92A83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92C5EDB-AA71-0122-7E28-210B42DDA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DE59640-E639-A457-44AA-AD213A37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6690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93AD0CD-300D-4409-EA93-12BDDCC1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FAA9AD0-7132-E648-F7FE-7B7A464A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EDD8E5-7974-6D59-0DE5-CAB49F87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038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FFDBF-8062-358A-6C2D-C7DF0132D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523B9A-5711-4572-620F-4ACA88D0B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B1481A-DF47-345C-3FF3-6FB603092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67A6A6-E04B-988D-FB10-24965E3E0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FE7983-A138-88F4-E705-2C10EF47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98CA6F-99EF-1409-6088-A8AFF4C81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8672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6EE77-6B0D-551F-7A58-835F66129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2CB00F6-1795-E818-8D16-52BF317D28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0EA5A7-A860-9AAC-636B-4EE1E2673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DDCBB6-15B7-2B65-DDE0-7F4CC643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771EC7-4B3E-C59B-C9CB-21B56ACE5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DCEAA2-ABEA-891F-923C-AEFCC8A1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8646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61BD2E-7A53-38A8-3DD9-938C8EDEE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F24F1DA-90DA-217A-B390-FA1569A76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06CD79-A861-7724-4F05-12054753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B44FFA-5C51-8779-6BDC-80F2A1E3E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7B7012-1736-083D-29D5-EDAC2AA92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3891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1A8B0B-86F2-5669-7D57-83E7C2027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5860ED-591C-F7BF-83BF-F4E5AD5D0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0D1B2D-1408-698D-F427-D93FC72F3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22BC9A-4EE4-67A5-E6D1-7FDB6C117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4DD06D-1A66-B88F-2CE4-69029F2BF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6817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5F62B6B-613B-DF75-452D-53B77EE1B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C1A953-0DC7-D94E-06F9-72B2B2659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E188B1-BBC1-D0C6-9051-23D32B52C8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C8A44-BE3D-4BC5-BCFB-FA21CFE9241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B54396-4DF3-2858-C105-B58218C25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BBCD83-2A6C-0684-0CA7-13F7AF1A3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3392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361A5-DFDF-FBAC-A6ED-E94B637BF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2A4EA0F-1B2B-E8FC-3FF0-5D182F4CF8D2}"/>
              </a:ext>
            </a:extLst>
          </p:cNvPr>
          <p:cNvSpPr/>
          <p:nvPr/>
        </p:nvSpPr>
        <p:spPr>
          <a:xfrm>
            <a:off x="453625" y="2706460"/>
            <a:ext cx="9575278" cy="980638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pt-BR" sz="4800" b="1" dirty="0">
                <a:solidFill>
                  <a:schemeClr val="accent4"/>
                </a:solidFill>
                <a:latin typeface="Trebuchet MS"/>
              </a:rPr>
              <a:t>INVESTIMENTOS PROPAG</a:t>
            </a:r>
            <a:endParaRPr lang="pt-BR" dirty="0">
              <a:solidFill>
                <a:schemeClr val="accent4"/>
              </a:solidFill>
              <a:ea typeface="Calibri" panose="020F0502020204030204"/>
              <a:cs typeface="Calibri" panose="020F0502020204030204"/>
            </a:endParaRPr>
          </a:p>
          <a:p>
            <a:endParaRPr lang="pt-BR" sz="4800" dirty="0">
              <a:solidFill>
                <a:schemeClr val="accent4"/>
              </a:solidFill>
              <a:latin typeface="Trebuchet MS" panose="020B0603020202020204" pitchFamily="34" charset="0"/>
            </a:endParaRPr>
          </a:p>
          <a:p>
            <a:endParaRPr lang="pt-BR" sz="4800" dirty="0">
              <a:solidFill>
                <a:schemeClr val="accent4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6848AB9-FC59-CC77-A5FB-14F83E35E33F}"/>
              </a:ext>
            </a:extLst>
          </p:cNvPr>
          <p:cNvSpPr/>
          <p:nvPr/>
        </p:nvSpPr>
        <p:spPr>
          <a:xfrm>
            <a:off x="382125" y="2839709"/>
            <a:ext cx="143000" cy="13630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4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EB6E610-F917-AC41-AEF2-FA0364CB85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98" t="44654" r="9674" b="44654"/>
          <a:stretch>
            <a:fillRect/>
          </a:stretch>
        </p:blipFill>
        <p:spPr>
          <a:xfrm>
            <a:off x="10519668" y="83440"/>
            <a:ext cx="1594584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92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4A0A0-8232-CD24-3453-E7008F996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ector reto 4">
            <a:extLst>
              <a:ext uri="{FF2B5EF4-FFF2-40B4-BE49-F238E27FC236}">
                <a16:creationId xmlns:a16="http://schemas.microsoft.com/office/drawing/2014/main" id="{04B1EDB1-94F8-6EF5-979F-38A9F918869B}"/>
              </a:ext>
            </a:extLst>
          </p:cNvPr>
          <p:cNvCxnSpPr>
            <a:cxnSpLocks/>
          </p:cNvCxnSpPr>
          <p:nvPr/>
        </p:nvCxnSpPr>
        <p:spPr>
          <a:xfrm>
            <a:off x="156000" y="657551"/>
            <a:ext cx="11880000" cy="14377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F935FC6-34BA-5971-E6BB-BC7931845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00" y="116428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pt-BR" sz="2400" b="1" cap="all" dirty="0">
                <a:solidFill>
                  <a:schemeClr val="accent4"/>
                </a:solidFill>
                <a:latin typeface="Trebuchet MS"/>
              </a:rPr>
              <a:t>plano de investimentos</a:t>
            </a:r>
            <a:endParaRPr lang="pt-BR" sz="2400" cap="all" dirty="0">
              <a:solidFill>
                <a:schemeClr val="accent4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C25354A-9196-D889-191E-374F8C534F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98" t="44654" r="9674" b="44654"/>
          <a:stretch>
            <a:fillRect/>
          </a:stretch>
        </p:blipFill>
        <p:spPr>
          <a:xfrm>
            <a:off x="10519668" y="83440"/>
            <a:ext cx="1594584" cy="540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B9406EF-8DEF-4C99-12CB-BF659B80B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134" y="1497172"/>
            <a:ext cx="5822790" cy="454260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D1F56FA-BA6A-A6FA-2A21-6B37B7FD37BB}"/>
              </a:ext>
            </a:extLst>
          </p:cNvPr>
          <p:cNvSpPr txBox="1"/>
          <p:nvPr/>
        </p:nvSpPr>
        <p:spPr>
          <a:xfrm>
            <a:off x="254643" y="850841"/>
            <a:ext cx="117813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tx1"/>
                </a:solidFill>
              </a:rPr>
              <a:t>O atual cenário de distribuição dos recursos do </a:t>
            </a:r>
            <a:r>
              <a:rPr lang="pt-BR" dirty="0" err="1">
                <a:solidFill>
                  <a:schemeClr val="tx1"/>
                </a:solidFill>
              </a:rPr>
              <a:t>Propag</a:t>
            </a:r>
            <a:r>
              <a:rPr lang="pt-BR" dirty="0">
                <a:solidFill>
                  <a:schemeClr val="tx1"/>
                </a:solidFill>
              </a:rPr>
              <a:t>, compreende 33% das despesas vinculadas a SEE e 67% para as demais áreas temáticas.</a:t>
            </a:r>
            <a:endParaRPr lang="pt-BR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635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14AB-FAB3-1DBC-0E89-8F3D6590E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ector reto 4">
            <a:extLst>
              <a:ext uri="{FF2B5EF4-FFF2-40B4-BE49-F238E27FC236}">
                <a16:creationId xmlns:a16="http://schemas.microsoft.com/office/drawing/2014/main" id="{C8468386-61EF-832F-3FA4-BDC436A74C30}"/>
              </a:ext>
            </a:extLst>
          </p:cNvPr>
          <p:cNvCxnSpPr>
            <a:cxnSpLocks/>
          </p:cNvCxnSpPr>
          <p:nvPr/>
        </p:nvCxnSpPr>
        <p:spPr>
          <a:xfrm>
            <a:off x="156000" y="657551"/>
            <a:ext cx="11880000" cy="14377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2BC42BCD-82F3-D25A-E60A-420DEC1D8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00" y="116428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pt-BR" sz="2400" b="1" cap="all" dirty="0">
                <a:solidFill>
                  <a:schemeClr val="accent4"/>
                </a:solidFill>
                <a:latin typeface="Trebuchet MS"/>
              </a:rPr>
              <a:t>PLANO DE INVESTIMENTOS</a:t>
            </a:r>
            <a:endParaRPr lang="pt-BR" sz="2400" cap="all" dirty="0">
              <a:solidFill>
                <a:schemeClr val="accent4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8C82078-F610-E9D6-28E4-5288240EDC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98" t="44654" r="9674" b="44654"/>
          <a:stretch>
            <a:fillRect/>
          </a:stretch>
        </p:blipFill>
        <p:spPr>
          <a:xfrm>
            <a:off x="10519668" y="83440"/>
            <a:ext cx="1594584" cy="540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A41D2E1-29B8-05C9-C7E5-122C01386DC1}"/>
              </a:ext>
            </a:extLst>
          </p:cNvPr>
          <p:cNvSpPr/>
          <p:nvPr/>
        </p:nvSpPr>
        <p:spPr>
          <a:xfrm>
            <a:off x="156000" y="1925370"/>
            <a:ext cx="6736466" cy="30701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algn="just" fontAlgn="base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tx1"/>
                </a:solidFill>
              </a:rPr>
              <a:t>O Plano de Aplicação de Investimentos foi concluído, totalizando </a:t>
            </a:r>
            <a:r>
              <a:rPr lang="pt-BR" b="1" dirty="0">
                <a:solidFill>
                  <a:schemeClr val="tx1"/>
                </a:solidFill>
              </a:rPr>
              <a:t>R$ 1,25 milhões</a:t>
            </a:r>
            <a:r>
              <a:rPr lang="pt-BR" dirty="0">
                <a:solidFill>
                  <a:schemeClr val="tx1"/>
                </a:solidFill>
              </a:rPr>
              <a:t>. Sua estrutura contempla:</a:t>
            </a:r>
          </a:p>
          <a:p>
            <a:pPr marL="285750" indent="-285750" algn="just" fontAlgn="base">
              <a:buFont typeface="Wingdings" panose="05000000000000000000" pitchFamily="2" charset="2"/>
              <a:buChar char="ü"/>
            </a:pPr>
            <a:endParaRPr lang="en-US" sz="1600" dirty="0">
              <a:solidFill>
                <a:schemeClr val="tx1"/>
              </a:solidFill>
            </a:endParaRPr>
          </a:p>
          <a:p>
            <a:pPr marL="742950" lvl="1" indent="-285750" algn="just" fontAlgn="base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Intervenções macros</a:t>
            </a:r>
            <a:r>
              <a:rPr lang="pt-BR" dirty="0">
                <a:solidFill>
                  <a:schemeClr val="tx1"/>
                </a:solidFill>
              </a:rPr>
              <a:t>, alinhadas a ações orçamentárias amplas (ex.: Conservação da Malha Rodoviária) e intervenções específicas (ex.: pavimentação do trecho Consolação–Cambuí; renovação da frota de helicópteros).</a:t>
            </a:r>
          </a:p>
          <a:p>
            <a:pPr marL="742950" lvl="1" indent="-285750" algn="just" fontAlgn="base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Detalhamento de marcos</a:t>
            </a:r>
            <a:r>
              <a:rPr lang="pt-BR" dirty="0">
                <a:solidFill>
                  <a:schemeClr val="tx1"/>
                </a:solidFill>
              </a:rPr>
              <a:t>, incluindo trechos a pavimentar, pontes a construir, elementos estruturais a adquirir e cronograma bimestral de execução.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tx1"/>
                </a:solidFill>
              </a:rPr>
              <a:t>Considerando que a execução do plano deverá ser acompanhada pelos órgãos de controle estadual, pergunta-se: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Devemos encaminhar o plano para o TCEMG?</a:t>
            </a:r>
            <a:endParaRPr lang="pt-BR" b="1" dirty="0">
              <a:solidFill>
                <a:schemeClr val="tx1"/>
              </a:solidFill>
              <a:ea typeface="Calibri"/>
              <a:cs typeface="Calibri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Devemos provocar uma agenda com a equipe técnica do TCEMG para definir quais serão os parâmetros exigidos para acompanhar a execução do plano de aplicação </a:t>
            </a:r>
            <a:r>
              <a:rPr lang="pt-BR" dirty="0">
                <a:solidFill>
                  <a:schemeClr val="tx1"/>
                </a:solidFill>
              </a:rPr>
              <a:t>(pactuar critérios, indicadores, periodicidade e formatos de acompanhamento, permitindo que o Estado se organize previamente e mitigue riscos de inconsistências durante a execução)? </a:t>
            </a:r>
            <a:endParaRPr lang="pt-BR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452C485-7EAC-3F1E-03D2-8ADF585AF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838" y="751386"/>
            <a:ext cx="4828162" cy="592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164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09AF9-7B8A-90B5-1131-3F054DD93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ector reto 4">
            <a:extLst>
              <a:ext uri="{FF2B5EF4-FFF2-40B4-BE49-F238E27FC236}">
                <a16:creationId xmlns:a16="http://schemas.microsoft.com/office/drawing/2014/main" id="{E10083CC-D7DE-7C71-81BB-2025688BCA4B}"/>
              </a:ext>
            </a:extLst>
          </p:cNvPr>
          <p:cNvCxnSpPr>
            <a:cxnSpLocks/>
          </p:cNvCxnSpPr>
          <p:nvPr/>
        </p:nvCxnSpPr>
        <p:spPr>
          <a:xfrm>
            <a:off x="156000" y="657551"/>
            <a:ext cx="11880000" cy="14377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3FBEDE0-D0A0-0A92-9F6A-67D4EF00C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00" y="116428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pt-BR" sz="2400" b="1" cap="all" dirty="0">
                <a:solidFill>
                  <a:schemeClr val="accent4"/>
                </a:solidFill>
                <a:latin typeface="Trebuchet MS"/>
              </a:rPr>
              <a:t>PLANO DE INVESTIMENTO</a:t>
            </a:r>
            <a:endParaRPr lang="pt-BR" sz="2400" cap="all" dirty="0">
              <a:solidFill>
                <a:schemeClr val="accent4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F24623C-D9E3-6ED4-8DA5-D1D087253F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98" t="44654" r="9674" b="44654"/>
          <a:stretch>
            <a:fillRect/>
          </a:stretch>
        </p:blipFill>
        <p:spPr>
          <a:xfrm>
            <a:off x="10519668" y="83440"/>
            <a:ext cx="1594584" cy="540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E285D5F-F99A-8D6C-3018-2FE0C2B45EB7}"/>
              </a:ext>
            </a:extLst>
          </p:cNvPr>
          <p:cNvSpPr txBox="1"/>
          <p:nvPr/>
        </p:nvSpPr>
        <p:spPr>
          <a:xfrm>
            <a:off x="648182" y="891569"/>
            <a:ext cx="106487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tx1"/>
                </a:solidFill>
              </a:rPr>
              <a:t>A SEE, no Plano de Aplicação de Recursos 2026 – </a:t>
            </a:r>
            <a:r>
              <a:rPr lang="pt-BR" dirty="0" err="1">
                <a:solidFill>
                  <a:schemeClr val="tx1"/>
                </a:solidFill>
              </a:rPr>
              <a:t>Propag</a:t>
            </a:r>
            <a:r>
              <a:rPr lang="pt-BR" dirty="0">
                <a:solidFill>
                  <a:schemeClr val="tx1"/>
                </a:solidFill>
              </a:rPr>
              <a:t>/Juros por Educação, apresentou o quantitativo de matrículas da Educação Profissional Técnica em Minas Gerais, conforme abaixo:</a:t>
            </a:r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7B16E4A-BA74-E35D-81D4-09B0EF7D1220}"/>
              </a:ext>
            </a:extLst>
          </p:cNvPr>
          <p:cNvSpPr txBox="1"/>
          <p:nvPr/>
        </p:nvSpPr>
        <p:spPr>
          <a:xfrm>
            <a:off x="603812" y="2836846"/>
            <a:ext cx="10984375" cy="3693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pt-BR" dirty="0"/>
              <a:t>Considerando a meta estadual de matrículas da rede estadual, estabelecida pela Portaria nº 5, de 05/02/2026, que define 183.204 matrículas para Minas Gerais, observa-se que, com as 219.959 matrículas previstas para 2026, o Estado atingirá a meta definida pelo MEC.</a:t>
            </a: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endParaRPr lang="pt-BR" dirty="0"/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pt-BR" b="1" dirty="0"/>
              <a:t>Deliberação necessária:</a:t>
            </a:r>
            <a:endParaRPr lang="pt-BR" dirty="0"/>
          </a:p>
          <a:p>
            <a:pPr marL="1200150" lvl="2" indent="-285750" fontAlgn="base">
              <a:buFont typeface="Arial" panose="020B0604020202020204" pitchFamily="34" charset="0"/>
              <a:buChar char="•"/>
            </a:pPr>
            <a:r>
              <a:rPr lang="pt-BR" dirty="0"/>
              <a:t>Assegurar o financiamento das despesas da SEE — incluindo aquelas vinculadas ao cumprimento das metas —com recursos contabilizados como MDE.</a:t>
            </a:r>
          </a:p>
          <a:p>
            <a:pPr marL="1200150" lvl="2" indent="-285750" fontAlgn="base">
              <a:buFont typeface="Arial" panose="020B0604020202020204" pitchFamily="34" charset="0"/>
              <a:buChar char="•"/>
            </a:pPr>
            <a:r>
              <a:rPr lang="pt-BR" dirty="0"/>
              <a:t>Realocar os recursos do </a:t>
            </a:r>
            <a:r>
              <a:rPr lang="pt-BR" dirty="0" err="1"/>
              <a:t>Propag</a:t>
            </a:r>
            <a:r>
              <a:rPr lang="pt-BR" dirty="0"/>
              <a:t> atualmente previstos para a SEE, direcionando-os para investimentos em outras áreas temáticas.</a:t>
            </a:r>
          </a:p>
          <a:p>
            <a:pPr marL="1200150" lvl="2" indent="-285750" fontAlgn="base">
              <a:buFont typeface="Arial" panose="020B0604020202020204" pitchFamily="34" charset="0"/>
              <a:buChar char="•"/>
            </a:pPr>
            <a:r>
              <a:rPr lang="pt-BR" dirty="0"/>
              <a:t>Formalização por parte do Estado junto ao MEC e à STN em relação à alteração no planejamento de distribuição dos investimentos, zerando os valores previstos inicialmente para EPT.</a:t>
            </a:r>
            <a:endParaRPr lang="pt-BR" dirty="0">
              <a:ea typeface="Calibri"/>
              <a:cs typeface="Calibri"/>
            </a:endParaRPr>
          </a:p>
          <a:p>
            <a:pPr lvl="2" fontAlgn="base"/>
            <a:endParaRPr lang="pt-BR" dirty="0"/>
          </a:p>
          <a:p>
            <a:pPr fontAlgn="base"/>
            <a:r>
              <a:rPr lang="pt-BR" b="1" dirty="0"/>
              <a:t>  </a:t>
            </a:r>
            <a:r>
              <a:rPr lang="pt-BR" b="1" dirty="0" err="1"/>
              <a:t>Obs</a:t>
            </a:r>
            <a:r>
              <a:rPr lang="pt-BR" b="1" dirty="0"/>
              <a:t>: Dos R$621milhões destinados para SEE, quase R$1milhão já foi liquidado em 2026.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A8397F6-8B7A-47E0-0A56-B72777DF9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8480" y="1802563"/>
            <a:ext cx="6035040" cy="76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72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E6AB7-A336-B73E-DAA9-465AE2C3D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ector reto 4">
            <a:extLst>
              <a:ext uri="{FF2B5EF4-FFF2-40B4-BE49-F238E27FC236}">
                <a16:creationId xmlns:a16="http://schemas.microsoft.com/office/drawing/2014/main" id="{15C1B41B-6801-97A3-F831-BAAC278FD598}"/>
              </a:ext>
            </a:extLst>
          </p:cNvPr>
          <p:cNvCxnSpPr>
            <a:cxnSpLocks/>
          </p:cNvCxnSpPr>
          <p:nvPr/>
        </p:nvCxnSpPr>
        <p:spPr>
          <a:xfrm>
            <a:off x="156000" y="657551"/>
            <a:ext cx="11880000" cy="14377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0C5CF18-3B62-4092-4A0F-EDA7750C8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00" y="116428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pt-BR" sz="2400" b="1" cap="all" dirty="0" err="1">
                <a:solidFill>
                  <a:schemeClr val="accent4"/>
                </a:solidFill>
                <a:latin typeface="Trebuchet MS"/>
              </a:rPr>
              <a:t>Propag</a:t>
            </a:r>
            <a:r>
              <a:rPr lang="pt-BR" sz="2400" b="1" cap="all" dirty="0">
                <a:solidFill>
                  <a:schemeClr val="accent4"/>
                </a:solidFill>
                <a:latin typeface="Trebuchet MS"/>
              </a:rPr>
              <a:t> – despesas com recursos do </a:t>
            </a:r>
            <a:r>
              <a:rPr lang="pt-BR" sz="2400" b="1" cap="all" dirty="0" err="1">
                <a:solidFill>
                  <a:schemeClr val="accent4"/>
                </a:solidFill>
                <a:latin typeface="Trebuchet MS"/>
              </a:rPr>
              <a:t>fef</a:t>
            </a:r>
            <a:endParaRPr lang="pt-BR" sz="2400" cap="all" dirty="0">
              <a:solidFill>
                <a:schemeClr val="accent4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627872F-CF39-23F5-D106-772E40A791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98" t="44654" r="9674" b="44654"/>
          <a:stretch>
            <a:fillRect/>
          </a:stretch>
        </p:blipFill>
        <p:spPr>
          <a:xfrm>
            <a:off x="10519668" y="83440"/>
            <a:ext cx="1594584" cy="540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AF1D5A9-5D98-C645-881D-EFB254147796}"/>
              </a:ext>
            </a:extLst>
          </p:cNvPr>
          <p:cNvSpPr/>
          <p:nvPr/>
        </p:nvSpPr>
        <p:spPr>
          <a:xfrm>
            <a:off x="156000" y="1424244"/>
            <a:ext cx="11553878" cy="51478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tx1"/>
                </a:solidFill>
              </a:rPr>
              <a:t>Foi arrecadada receita do FEF referente ao exercício 2025, totalizando aproximadamente R$ 52 milhões, previstos para execução pela SEE em 2026.</a:t>
            </a: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tx1"/>
                </a:solidFill>
              </a:rPr>
              <a:t>Para 2026, a estimativa de arrecadação em outubro é de R$330 milhões.</a:t>
            </a:r>
            <a:endParaRPr lang="pt-BR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endParaRPr lang="pt-BR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pt-BR" b="1" dirty="0">
                <a:solidFill>
                  <a:schemeClr val="tx1"/>
                </a:solidFill>
              </a:rPr>
              <a:t>Ponto Central: A definição sobre quando executar as despesas vinculadas ao FEF.</a:t>
            </a: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endParaRPr lang="pt-BR" b="1" dirty="0">
              <a:solidFill>
                <a:schemeClr val="tx1"/>
              </a:solidFill>
            </a:endParaRP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pt-BR" b="1" dirty="0">
                <a:solidFill>
                  <a:schemeClr val="tx1"/>
                </a:solidFill>
              </a:rPr>
              <a:t>Deliberação necessária:</a:t>
            </a: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endParaRPr lang="pt-BR" b="1" dirty="0">
              <a:solidFill>
                <a:schemeClr val="tx1"/>
              </a:solidFill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As </a:t>
            </a:r>
            <a:r>
              <a:rPr lang="pt-BR" b="1" dirty="0">
                <a:solidFill>
                  <a:schemeClr val="tx1"/>
                </a:solidFill>
              </a:rPr>
              <a:t>despesas custeadas com recursos do FEF devem ser executadas em 2026</a:t>
            </a:r>
            <a:r>
              <a:rPr lang="pt-BR" dirty="0">
                <a:solidFill>
                  <a:schemeClr val="tx1"/>
                </a:solidFill>
              </a:rPr>
              <a:t>, considerando que a receita ingressa apenas em outubro?</a:t>
            </a:r>
          </a:p>
          <a:p>
            <a:pPr lvl="1" fontAlgn="base"/>
            <a:r>
              <a:rPr lang="pt-BR" dirty="0">
                <a:solidFill>
                  <a:schemeClr val="tx1"/>
                </a:solidFill>
              </a:rPr>
              <a:t>ou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Devemos postergar a execução para 2027</a:t>
            </a:r>
            <a:r>
              <a:rPr lang="pt-BR" dirty="0">
                <a:solidFill>
                  <a:schemeClr val="tx1"/>
                </a:solidFill>
              </a:rPr>
              <a:t>, em conformidade com autorização prevista no Decreto do PROPAG (até dez/27)? 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lvl="4" algn="just" fontAlgn="base"/>
            <a:r>
              <a:rPr lang="pt-BR" sz="1400" i="1" dirty="0">
                <a:solidFill>
                  <a:schemeClr val="tx1"/>
                </a:solidFill>
              </a:rPr>
              <a:t>§ 7º  Para o exercício de 2025, os Estados deverão apresentar plano de aplicação dos investimentos com os recursos recebidos do FEF em até trinta dias após o recebimento do primeiro repasse do Fundo, e os recursos deverão ser aplicados até 31 de dezembro de 2026.   </a:t>
            </a:r>
          </a:p>
          <a:p>
            <a:pPr lvl="4" algn="just" fontAlgn="base"/>
            <a:r>
              <a:rPr lang="pt-BR" sz="1400" i="1" dirty="0">
                <a:solidFill>
                  <a:schemeClr val="tx1"/>
                </a:solidFill>
              </a:rPr>
              <a:t>§ 8º  Para os exercícios de 2026 e seguintes, o plano de aplicação dos investimentos de que trata o § 6º deverá conter, também, os investimentos a serem custeados com recursos recebidos do FEF. 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Wingdings,Sans-Serif" panose="05000000000000000000" pitchFamily="2" charset="2"/>
              <a:buChar char="ü"/>
            </a:pPr>
            <a:endParaRPr lang="pt-BR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3985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1e7f20-fe0a-487d-91a9-605ac1c64acf" xsi:nil="true"/>
    <lcf76f155ced4ddcb4097134ff3c332f xmlns="6f4338ef-addb-4c87-aefe-1895241b335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8D58FADB61F04EBBB4F355C06EFBED" ma:contentTypeVersion="19" ma:contentTypeDescription="Crie um novo documento." ma:contentTypeScope="" ma:versionID="b1e0f6055e0e9a4b9e75d6c71ee7de91">
  <xsd:schema xmlns:xsd="http://www.w3.org/2001/XMLSchema" xmlns:xs="http://www.w3.org/2001/XMLSchema" xmlns:p="http://schemas.microsoft.com/office/2006/metadata/properties" xmlns:ns2="6f4338ef-addb-4c87-aefe-1895241b335f" xmlns:ns3="b91e7f20-fe0a-487d-91a9-605ac1c64acf" targetNamespace="http://schemas.microsoft.com/office/2006/metadata/properties" ma:root="true" ma:fieldsID="b43930f3490e4d4da1ab3f8da7df6f51" ns2:_="" ns3:_="">
    <xsd:import namespace="6f4338ef-addb-4c87-aefe-1895241b335f"/>
    <xsd:import namespace="b91e7f20-fe0a-487d-91a9-605ac1c64a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338ef-addb-4c87-aefe-1895241b33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917d32f3-4fa4-4f5b-a8d0-62dbd3d265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e7f20-fe0a-487d-91a9-605ac1c64ac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8708050-f001-4dcd-9fe1-c60e835c33fc}" ma:internalName="TaxCatchAll" ma:showField="CatchAllData" ma:web="b91e7f20-fe0a-487d-91a9-605ac1c64a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A44B0B-D4BD-4A60-9141-24776A7557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979728-2076-4C4B-9DF4-C198F22BF243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6f4338ef-addb-4c87-aefe-1895241b335f"/>
    <ds:schemaRef ds:uri="http://schemas.openxmlformats.org/package/2006/metadata/core-properties"/>
    <ds:schemaRef ds:uri="http://purl.org/dc/elements/1.1/"/>
    <ds:schemaRef ds:uri="http://www.w3.org/XML/1998/namespace"/>
    <ds:schemaRef ds:uri="http://purl.org/dc/dcmitype/"/>
    <ds:schemaRef ds:uri="b91e7f20-fe0a-487d-91a9-605ac1c64acf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46A6322-927B-4353-86C2-AEF2770FB0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4338ef-addb-4c87-aefe-1895241b335f"/>
    <ds:schemaRef ds:uri="b91e7f20-fe0a-487d-91a9-605ac1c64a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552</Words>
  <Application>Microsoft Office PowerPoint</Application>
  <PresentationFormat>Widescreen</PresentationFormat>
  <Paragraphs>40</Paragraphs>
  <Slides>5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Ana Carolina Schiavon Cordeiro</dc:creator>
  <cp:lastModifiedBy>Viviane Nascimento</cp:lastModifiedBy>
  <cp:revision>131</cp:revision>
  <dcterms:created xsi:type="dcterms:W3CDTF">2025-01-22T13:19:17Z</dcterms:created>
  <dcterms:modified xsi:type="dcterms:W3CDTF">2026-02-11T19:48:37Z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0x010100B08D58FADB61F04EBBB4F355C06EFBED</vt:lpwstr>
  </property>
  <property fmtid="{D5CDD505-2E9C-101B-9397-08002B2CF9AE}" pid="3" name="MediaServiceImageTags">
    <vt:lpwstr/>
  </property>
</Properties>
</file>