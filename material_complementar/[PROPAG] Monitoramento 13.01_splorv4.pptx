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1426" r:id="rId5"/>
    <p:sldId id="3038" r:id="rId6"/>
    <p:sldId id="1421" r:id="rId7"/>
    <p:sldId id="3040" r:id="rId8"/>
    <p:sldId id="3041" r:id="rId9"/>
    <p:sldId id="3045" r:id="rId10"/>
    <p:sldId id="3064" r:id="rId11"/>
    <p:sldId id="3063" r:id="rId12"/>
    <p:sldId id="3060" r:id="rId13"/>
    <p:sldId id="3066" r:id="rId14"/>
    <p:sldId id="3065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1341D5-914E-CCAF-2D45-50DF5F8CCDF6}" name="Ana Carolina Schiavon Cordeiro" initials="AS" userId="S::M752979@ca.mg.gov.br::f74f076c-a35f-4e75-b102-dae2e585dfb2" providerId="AD"/>
  <p188:author id="{542FFFFB-E694-9F6F-8D8D-913E64761CEA}" name="Isabelle Colares Ali Ganem (SEPLAG)" initials="I(" userId="S::m752885@ca.mg.gov.br::373c2fa1-303b-49f4-8f45-dcfb2e257f2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CFD5EA"/>
    <a:srgbClr val="FFBD58"/>
    <a:srgbClr val="ED7D31"/>
    <a:srgbClr val="DAE3F3"/>
    <a:srgbClr val="FFF4E7"/>
    <a:srgbClr val="D0D0D0"/>
    <a:srgbClr val="F5E6FE"/>
    <a:srgbClr val="EBCBFD"/>
    <a:srgbClr val="FFD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8580BC-D702-4314-A6FD-B59DEA78F393}" v="1" dt="2026-01-13T17:52:48.410"/>
    <p1510:client id="{47970B94-31A5-4D3D-A735-AB14D894BE2B}" v="2" dt="2026-01-13T17:47:57.177"/>
    <p1510:client id="{C8A5FD80-15FD-6058-A26B-F7388C58B3BE}" v="2" dt="2026-01-13T17:13:29.631"/>
    <p1510:client id="{FFA0D79B-7CD6-46D8-8826-09F5E0C4402F}" v="1" dt="2026-01-13T17:09:26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9" autoAdjust="0"/>
    <p:restoredTop sz="90073" autoAdjust="0"/>
  </p:normalViewPr>
  <p:slideViewPr>
    <p:cSldViewPr snapToGrid="0">
      <p:cViewPr varScale="1">
        <p:scale>
          <a:sx n="66" d="100"/>
          <a:sy n="66" d="100"/>
        </p:scale>
        <p:origin x="1579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02024-0846-4A07-AA15-64C15DB4B1F9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743DD-3F40-4AFA-93FA-C64F4B7AC8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03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DDA47-68EB-0A30-A41E-9AFDA42CF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C0DBC37-09D2-67B7-B8B2-583E933B3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197F935-E1DD-BECC-5132-C832E58DE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5FFB8F-78C7-1305-52C8-986A0A53A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510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167F-E24F-F340-2DB4-C3514137A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05CA137-A7BD-6BB2-B18D-9A07E9726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8FC28E7-96BB-3E21-273F-FFD7A37D1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499D0D-1386-B055-4E30-989E78114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764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59FD0-0A7A-D538-B2FD-793CAF538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BB4819-82FA-94E7-215C-FF44CAE07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99E1A14-5A9E-89B2-D9A6-F61D9B62E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564362-A736-42E4-7817-F08AEA5D7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7611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ADC7-D803-7496-B6F1-3072D60D0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53D399-75D6-5674-14C8-975E86A56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B80303-F2C8-478B-56A0-2DB188B41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1048A2-B5F5-4FDE-D96A-8E6F0D1D6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326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C4C98-656B-08DA-14F1-38C349A77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323432-EBDA-64C3-537A-E53BB5157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4456945-24B2-7E03-C599-DFF12527A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EEA023-F99C-6421-8A41-2B568FA99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3743DD-3F40-4AFA-93FA-C64F4B7AC84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706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1A3AD-E7BF-D90F-DACF-A3661C132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EE01283-2040-99AD-28D9-CDDA91630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AA27EA-7AFF-C170-C934-390D18A54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79420A-415C-E2EA-3B07-5AC2723BB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6886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C4C98-656B-08DA-14F1-38C349A77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323432-EBDA-64C3-537A-E53BB5157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4456945-24B2-7E03-C599-DFF12527A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EEA023-F99C-6421-8A41-2B568FA99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3743DD-3F40-4AFA-93FA-C64F4B7AC845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2938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F247A-855D-0290-0010-419398ECE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CE2039-A178-8586-BBEA-8D7D64419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FF95E9-565F-3501-1270-AAFA634D1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5EA7AA-4982-011C-383C-7C112D46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919A59-760C-FAC8-CCFB-F1A713C0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953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F112A-DA73-AD9F-2AC6-E7F16FCB8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68BEB8-6135-FA1F-EFD9-B0AA56C82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90166F-79BB-B47D-2F5B-D668B1FB5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15FB39-F78A-4321-33DD-D9F7E4062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02DC00-429D-2491-8AA6-CA23E078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35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E061F-B912-7B77-219A-50C1ACBA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616084-D224-EC8F-38DF-301781E9E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59C134-5B54-7FDE-2235-72064C1C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50A1C7-FF72-BD2F-2AE8-3FB186C7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4064AA-3BCA-1E08-9305-063E04AC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989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EDE9D-EE67-7631-1CC9-268A6DE1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DB5FAB-126D-AC06-3E9D-BA8932FB0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1025CB-D93F-2AD5-A696-B05FEFBED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F1D487-B675-6414-A261-6C22F5EE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FC808A-1785-DE4D-7308-F56DFC79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34738A-7E6E-C306-E3DE-845F594F0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507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6E260-042E-304D-EC1E-7391805BD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1DC367-6F82-F39A-C696-D7BD7C3F3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3F6E56-6410-1C94-C1DB-715A69297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891A7A-ECA5-8450-9F2E-B2AEF0E49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E4709E0-D605-9C86-F552-489AA4AAF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2849B3-644C-95FA-31DE-D4F04D4C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9F75F97-E10E-3580-9F4C-40D066AFC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A0D33E-CAB3-F810-F2FE-CB6CA439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3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200F5-2DC5-027A-2CC7-DDAEC7DE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31F13E-F3F0-C33C-EE09-7CFC92A8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92C5EDB-AA71-0122-7E28-210B42DDA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E59640-E639-A457-44AA-AD213A37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669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93AD0CD-300D-4409-EA93-12BDDCC1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AA9AD0-7132-E648-F7FE-7B7A464A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EDD8E5-7974-6D59-0DE5-CAB49F87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038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FFDBF-8062-358A-6C2D-C7DF0132D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523B9A-5711-4572-620F-4ACA88D0B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B1481A-DF47-345C-3FF3-6FB603092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67A6A6-E04B-988D-FB10-24965E3E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E7983-A138-88F4-E705-2C10EF47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98CA6F-99EF-1409-6088-A8AFF4C81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8672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6EE77-6B0D-551F-7A58-835F6612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2CB00F6-1795-E818-8D16-52BF317D28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0EA5A7-A860-9AAC-636B-4EE1E2673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DDCBB6-15B7-2B65-DDE0-7F4CC643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771EC7-4B3E-C59B-C9CB-21B56ACE5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DCEAA2-ABEA-891F-923C-AEFCC8A1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64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1BD2E-7A53-38A8-3DD9-938C8EDE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24F1DA-90DA-217A-B390-FA1569A76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06CD79-A861-7724-4F05-12054753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B44FFA-5C51-8779-6BDC-80F2A1E3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7B7012-1736-083D-29D5-EDAC2AA92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3891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1A8B0B-86F2-5669-7D57-83E7C2027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5860ED-591C-F7BF-83BF-F4E5AD5D0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0D1B2D-1408-698D-F427-D93FC72F3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22BC9A-4EE4-67A5-E6D1-7FDB6C11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4DD06D-1A66-B88F-2CE4-69029F2B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681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5F62B6B-613B-DF75-452D-53B77EE1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C1A953-0DC7-D94E-06F9-72B2B2659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E188B1-BBC1-D0C6-9051-23D32B52C8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C8A44-BE3D-4BC5-BCFB-FA21CFE92411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B54396-4DF3-2858-C105-B58218C25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BBCD83-2A6C-0684-0CA7-13F7AF1A3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339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A9E51-C09E-4212-33AA-8D98BBAF5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5054" y="2747466"/>
            <a:ext cx="10741892" cy="1249218"/>
          </a:xfrm>
        </p:spPr>
        <p:txBody>
          <a:bodyPr anchor="ctr">
            <a:normAutofit/>
          </a:bodyPr>
          <a:lstStyle/>
          <a:p>
            <a:pPr algn="l"/>
            <a:r>
              <a:rPr lang="pt-BR">
                <a:latin typeface="Aptos" panose="020B0004020202020204" pitchFamily="34" charset="0"/>
              </a:rPr>
              <a:t>REUNIÃO DE STATUS PROPAG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9F95532-5F5A-8903-4E0F-883315828A33}"/>
              </a:ext>
            </a:extLst>
          </p:cNvPr>
          <p:cNvSpPr txBox="1"/>
          <p:nvPr/>
        </p:nvSpPr>
        <p:spPr>
          <a:xfrm>
            <a:off x="3179676" y="6213790"/>
            <a:ext cx="583264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600" b="1" dirty="0"/>
              <a:t>JANEIRO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541DF22-6382-ED14-6778-59E1163C616D}"/>
              </a:ext>
            </a:extLst>
          </p:cNvPr>
          <p:cNvSpPr/>
          <p:nvPr/>
        </p:nvSpPr>
        <p:spPr>
          <a:xfrm>
            <a:off x="300937" y="2747466"/>
            <a:ext cx="143000" cy="13630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FA1645B-6346-096F-8C93-17B556548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75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9A0AE7-06B6-6E0B-0708-455261A05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4">
            <a:extLst>
              <a:ext uri="{FF2B5EF4-FFF2-40B4-BE49-F238E27FC236}">
                <a16:creationId xmlns:a16="http://schemas.microsoft.com/office/drawing/2014/main" id="{56F8EBF2-5DFA-105A-3A84-BA633AC26788}"/>
              </a:ext>
            </a:extLst>
          </p:cNvPr>
          <p:cNvCxnSpPr/>
          <p:nvPr/>
        </p:nvCxnSpPr>
        <p:spPr>
          <a:xfrm>
            <a:off x="6537" y="788642"/>
            <a:ext cx="12190380" cy="28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C2754E1-42E6-D3B7-DFB0-8C86FC0DC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819" y="17425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400"/>
              </a:spcAft>
              <a:buNone/>
              <a:defRPr/>
            </a:pPr>
            <a:r>
              <a:rPr lang="pt-BR" altLang="pt-BR" sz="2400" b="1" cap="all" err="1">
                <a:latin typeface="Trebuchet MS"/>
                <a:ea typeface="ＭＳ Ｐゴシック"/>
              </a:rPr>
              <a:t>FRENTEs</a:t>
            </a:r>
            <a:endParaRPr lang="pt-BR" altLang="pt-BR" sz="2400" b="1" cap="all">
              <a:latin typeface="Trebuchet MS"/>
              <a:ea typeface="ＭＳ Ｐゴシック"/>
            </a:endParaRP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807FCCC5-30DD-A395-3D4C-A97D1BB222DC}"/>
              </a:ext>
            </a:extLst>
          </p:cNvPr>
          <p:cNvGrpSpPr/>
          <p:nvPr/>
        </p:nvGrpSpPr>
        <p:grpSpPr>
          <a:xfrm>
            <a:off x="105019" y="1879966"/>
            <a:ext cx="1800000" cy="3996907"/>
            <a:chOff x="252673" y="1879967"/>
            <a:chExt cx="1800000" cy="3996907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4A01E192-4BC7-8331-FEAA-698AC6E3166A}"/>
                </a:ext>
              </a:extLst>
            </p:cNvPr>
            <p:cNvSpPr/>
            <p:nvPr/>
          </p:nvSpPr>
          <p:spPr>
            <a:xfrm>
              <a:off x="252673" y="1879967"/>
              <a:ext cx="1800000" cy="3996907"/>
            </a:xfrm>
            <a:prstGeom prst="roundRect">
              <a:avLst/>
            </a:prstGeom>
            <a:solidFill>
              <a:srgbClr val="002060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/>
              <a:endParaRPr lang="pt-BR" b="1">
                <a:solidFill>
                  <a:schemeClr val="bg1"/>
                </a:solidFill>
                <a:latin typeface="Trebuchet MS"/>
              </a:endParaRPr>
            </a:p>
            <a:p>
              <a:pPr algn="ctr"/>
              <a:endParaRPr lang="pt-BR" sz="1600" b="1">
                <a:solidFill>
                  <a:schemeClr val="bg1"/>
                </a:solidFill>
                <a:latin typeface="Trebuchet MS"/>
              </a:endParaRPr>
            </a:p>
            <a:p>
              <a:pPr algn="ctr"/>
              <a:endParaRPr lang="pt-BR" sz="1600" b="1">
                <a:solidFill>
                  <a:schemeClr val="bg1"/>
                </a:solidFill>
                <a:latin typeface="Trebuchet MS"/>
              </a:endParaRPr>
            </a:p>
            <a:p>
              <a:pPr algn="ctr"/>
              <a:r>
                <a:rPr lang="pt-BR" sz="1600" b="1">
                  <a:solidFill>
                    <a:schemeClr val="bg1"/>
                  </a:solidFill>
                  <a:latin typeface="Trebuchet MS"/>
                </a:rPr>
                <a:t>Levantamento dos Ativos</a:t>
              </a:r>
              <a:endParaRPr lang="pt-BR" sz="1600">
                <a:solidFill>
                  <a:schemeClr val="bg1"/>
                </a:solidFill>
                <a:latin typeface="Trebuchet MS"/>
              </a:endParaRPr>
            </a:p>
            <a:p>
              <a:pPr algn="ctr"/>
              <a:endParaRPr lang="pt-BR" sz="2000">
                <a:solidFill>
                  <a:schemeClr val="tx1"/>
                </a:solidFill>
                <a:latin typeface="Trebuchet MS" panose="020B0603020202020204" pitchFamily="34" charset="0"/>
              </a:endParaRPr>
            </a:p>
            <a:p>
              <a:pPr algn="ctr"/>
              <a:endParaRPr lang="pt-BR" sz="2000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E75EF4CC-F682-64E3-91AE-96FAF2A5C717}"/>
                </a:ext>
              </a:extLst>
            </p:cNvPr>
            <p:cNvSpPr/>
            <p:nvPr/>
          </p:nvSpPr>
          <p:spPr>
            <a:xfrm>
              <a:off x="315673" y="3920419"/>
              <a:ext cx="1674000" cy="11110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pt-BR" sz="1600" b="1">
                  <a:solidFill>
                    <a:schemeClr val="bg1"/>
                  </a:solidFill>
                  <a:latin typeface="Trebuchet MS"/>
                </a:rPr>
                <a:t>Responsáveis: </a:t>
              </a:r>
              <a:r>
                <a:rPr lang="pt-BR" sz="1600">
                  <a:solidFill>
                    <a:schemeClr val="bg1"/>
                  </a:solidFill>
                  <a:latin typeface="Trebuchet MS"/>
                </a:rPr>
                <a:t>Gustavo Barbosa e Fábio Assunção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C8112B7-D65C-AED1-7CF7-F69D6331D28D}"/>
              </a:ext>
            </a:extLst>
          </p:cNvPr>
          <p:cNvGrpSpPr/>
          <p:nvPr/>
        </p:nvGrpSpPr>
        <p:grpSpPr>
          <a:xfrm>
            <a:off x="2168940" y="1879967"/>
            <a:ext cx="1800000" cy="3996907"/>
            <a:chOff x="2150309" y="1879967"/>
            <a:chExt cx="1800000" cy="3996907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2837EA46-BAE5-B396-B7C6-700D6816C903}"/>
                </a:ext>
              </a:extLst>
            </p:cNvPr>
            <p:cNvSpPr/>
            <p:nvPr/>
          </p:nvSpPr>
          <p:spPr>
            <a:xfrm>
              <a:off x="2150309" y="1879967"/>
              <a:ext cx="1800000" cy="3996907"/>
            </a:xfrm>
            <a:prstGeom prst="roundRect">
              <a:avLst/>
            </a:prstGeom>
            <a:solidFill>
              <a:schemeClr val="accent4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/>
              <a:endParaRPr lang="pt-BR" b="1">
                <a:solidFill>
                  <a:schemeClr val="bg1"/>
                </a:solidFill>
                <a:latin typeface="Trebuchet MS"/>
              </a:endParaRPr>
            </a:p>
            <a:p>
              <a:pPr algn="ctr"/>
              <a:endParaRPr lang="pt-BR" sz="1600" b="1">
                <a:solidFill>
                  <a:schemeClr val="bg1"/>
                </a:solidFill>
                <a:latin typeface="Trebuchet MS"/>
              </a:endParaRPr>
            </a:p>
            <a:p>
              <a:pPr algn="ctr"/>
              <a:endParaRPr lang="pt-BR" sz="1600" b="1">
                <a:solidFill>
                  <a:schemeClr val="bg1"/>
                </a:solidFill>
                <a:latin typeface="Trebuchet MS"/>
              </a:endParaRPr>
            </a:p>
            <a:p>
              <a:pPr algn="ctr"/>
              <a:r>
                <a:rPr lang="pt-BR" sz="1600" b="1">
                  <a:solidFill>
                    <a:schemeClr val="bg1"/>
                  </a:solidFill>
                  <a:latin typeface="Trebuchet MS"/>
                </a:rPr>
                <a:t>Meta de Educação Profissional Técnica</a:t>
              </a:r>
              <a:endParaRPr lang="pt-BR" sz="1600">
                <a:solidFill>
                  <a:schemeClr val="bg1"/>
                </a:solidFill>
                <a:latin typeface="Trebuchet MS"/>
              </a:endParaRPr>
            </a:p>
            <a:p>
              <a:pPr algn="ctr"/>
              <a:endParaRPr lang="pt-BR" sz="2000" b="1">
                <a:solidFill>
                  <a:schemeClr val="bg1"/>
                </a:solidFill>
                <a:latin typeface="Trebuchet MS" panose="020B0603020202020204" pitchFamily="34" charset="0"/>
              </a:endParaRPr>
            </a:p>
            <a:p>
              <a:pPr algn="ctr"/>
              <a:r>
                <a:rPr lang="pt-BR" sz="2000" b="1">
                  <a:solidFill>
                    <a:schemeClr val="bg1"/>
                  </a:solidFill>
                  <a:latin typeface="Trebuchet MS"/>
                </a:rPr>
                <a:t> 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83B8EAF0-5F38-2E63-25C2-077CF9FE2C2C}"/>
                </a:ext>
              </a:extLst>
            </p:cNvPr>
            <p:cNvSpPr/>
            <p:nvPr/>
          </p:nvSpPr>
          <p:spPr>
            <a:xfrm>
              <a:off x="2213309" y="3893787"/>
              <a:ext cx="1674000" cy="11110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pt-BR" sz="1600" b="1">
                  <a:solidFill>
                    <a:schemeClr val="bg1"/>
                  </a:solidFill>
                  <a:latin typeface="Trebuchet MS"/>
                </a:rPr>
                <a:t>Responsável:</a:t>
              </a:r>
            </a:p>
            <a:p>
              <a:pPr algn="ctr"/>
              <a:r>
                <a:rPr lang="pt-BR" sz="1600" b="1" err="1">
                  <a:solidFill>
                    <a:schemeClr val="bg1"/>
                  </a:solidFill>
                  <a:latin typeface="Trebuchet MS"/>
                </a:rPr>
                <a:t>Rossieli</a:t>
              </a:r>
              <a:r>
                <a:rPr lang="pt-BR" sz="1600" b="1">
                  <a:solidFill>
                    <a:schemeClr val="bg1"/>
                  </a:solidFill>
                  <a:latin typeface="Trebuchet MS"/>
                </a:rPr>
                <a:t> Soares e Stephanie Carvalho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A84BC75-4BE5-9EFA-35A5-2119E23D6296}"/>
              </a:ext>
            </a:extLst>
          </p:cNvPr>
          <p:cNvGrpSpPr/>
          <p:nvPr/>
        </p:nvGrpSpPr>
        <p:grpSpPr>
          <a:xfrm>
            <a:off x="8223061" y="1879967"/>
            <a:ext cx="1800000" cy="3996907"/>
            <a:chOff x="8139269" y="1879967"/>
            <a:chExt cx="1800000" cy="3996907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BF854505-AFBB-0796-6289-A4846EF54D0B}"/>
                </a:ext>
              </a:extLst>
            </p:cNvPr>
            <p:cNvSpPr/>
            <p:nvPr/>
          </p:nvSpPr>
          <p:spPr>
            <a:xfrm>
              <a:off x="8139269" y="1879967"/>
              <a:ext cx="1800000" cy="3996907"/>
            </a:xfrm>
            <a:prstGeom prst="roundRect">
              <a:avLst/>
            </a:prstGeom>
            <a:solidFill>
              <a:srgbClr val="7030A0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/>
              <a:endParaRPr lang="pt-BR" sz="2000" b="1">
                <a:solidFill>
                  <a:srgbClr val="FFFFFF"/>
                </a:solidFill>
                <a:latin typeface="Trebuchet MS"/>
                <a:cs typeface="Segoe UI"/>
              </a:endParaRPr>
            </a:p>
            <a:p>
              <a:pPr algn="ctr"/>
              <a:endParaRPr lang="pt-BR" sz="1600" b="1">
                <a:solidFill>
                  <a:srgbClr val="FFFFFF"/>
                </a:solidFill>
                <a:latin typeface="Trebuchet MS"/>
                <a:cs typeface="Segoe UI"/>
              </a:endParaRPr>
            </a:p>
            <a:p>
              <a:pPr algn="ctr"/>
              <a:endParaRPr lang="pt-BR" sz="1600" b="1">
                <a:solidFill>
                  <a:srgbClr val="FFFFFF"/>
                </a:solidFill>
                <a:latin typeface="Trebuchet MS"/>
                <a:cs typeface="Segoe UI"/>
              </a:endParaRPr>
            </a:p>
            <a:p>
              <a:pPr algn="ctr"/>
              <a:r>
                <a:rPr lang="pt-BR" sz="1600" b="1">
                  <a:solidFill>
                    <a:srgbClr val="FFFFFF"/>
                  </a:solidFill>
                  <a:latin typeface="Trebuchet MS"/>
                  <a:cs typeface="Segoe UI"/>
                </a:rPr>
                <a:t>Proposições legislativas</a:t>
              </a:r>
              <a:endParaRPr lang="pt-BR" sz="1600" b="1">
                <a:latin typeface="Trebuchet MS"/>
                <a:cs typeface="Segoe UI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7AB2A544-207B-2E15-E72A-A5F525AA106F}"/>
                </a:ext>
              </a:extLst>
            </p:cNvPr>
            <p:cNvSpPr/>
            <p:nvPr/>
          </p:nvSpPr>
          <p:spPr>
            <a:xfrm>
              <a:off x="8202269" y="3804410"/>
              <a:ext cx="1674000" cy="11110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pt-BR" sz="1600" b="1">
                  <a:solidFill>
                    <a:schemeClr val="bg1"/>
                  </a:solidFill>
                  <a:latin typeface="Trebuchet MS"/>
                </a:rPr>
                <a:t>Responsáveis:  </a:t>
              </a:r>
              <a:r>
                <a:rPr lang="pt-BR" sz="1600">
                  <a:solidFill>
                    <a:schemeClr val="bg1"/>
                  </a:solidFill>
                  <a:latin typeface="Trebuchet MS"/>
                </a:rPr>
                <a:t>Marcelo Aro e Danielle Baracho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80BA985B-FDEA-6995-93CE-FFB8E5545EFC}"/>
              </a:ext>
            </a:extLst>
          </p:cNvPr>
          <p:cNvGrpSpPr/>
          <p:nvPr/>
        </p:nvGrpSpPr>
        <p:grpSpPr>
          <a:xfrm>
            <a:off x="6001474" y="1879967"/>
            <a:ext cx="2105320" cy="3996907"/>
            <a:chOff x="5887363" y="1879967"/>
            <a:chExt cx="2105320" cy="3996907"/>
          </a:xfrm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D45E2A58-9C88-EF46-BBC6-738365253275}"/>
                </a:ext>
              </a:extLst>
            </p:cNvPr>
            <p:cNvSpPr/>
            <p:nvPr/>
          </p:nvSpPr>
          <p:spPr>
            <a:xfrm>
              <a:off x="6040023" y="1879967"/>
              <a:ext cx="1800000" cy="3996907"/>
            </a:xfrm>
            <a:prstGeom prst="roundRect">
              <a:avLst/>
            </a:prstGeom>
            <a:solidFill>
              <a:schemeClr val="accent6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sz="1750" b="1">
                <a:solidFill>
                  <a:schemeClr val="bg1"/>
                </a:solidFill>
                <a:latin typeface="Trebuchet MS"/>
              </a:endParaRPr>
            </a:p>
            <a:p>
              <a:pPr algn="ctr"/>
              <a:endParaRPr lang="pt-BR" sz="1600" b="1">
                <a:solidFill>
                  <a:schemeClr val="bg1"/>
                </a:solidFill>
                <a:latin typeface="Trebuchet MS"/>
              </a:endParaRPr>
            </a:p>
            <a:p>
              <a:pPr algn="ctr"/>
              <a:endParaRPr lang="pt-BR" sz="1600" b="1">
                <a:solidFill>
                  <a:schemeClr val="bg1"/>
                </a:solidFill>
                <a:latin typeface="Trebuchet MS"/>
              </a:endParaRPr>
            </a:p>
            <a:p>
              <a:pPr algn="ctr"/>
              <a:r>
                <a:rPr lang="pt-BR" sz="1400" b="1">
                  <a:solidFill>
                    <a:schemeClr val="bg1"/>
                  </a:solidFill>
                  <a:latin typeface="Trebuchet MS"/>
                </a:rPr>
                <a:t>Regulamentação e normatização</a:t>
              </a:r>
              <a:endParaRPr lang="pt-BR" sz="1400" b="1">
                <a:solidFill>
                  <a:schemeClr val="bg1"/>
                </a:solidFill>
                <a:latin typeface="Trebuchet MS" panose="020B0603020202020204" pitchFamily="34" charset="0"/>
              </a:endParaRPr>
            </a:p>
            <a:p>
              <a:pPr algn="ctr"/>
              <a:endParaRPr lang="pt-BR" sz="2000" b="1">
                <a:solidFill>
                  <a:schemeClr val="bg1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C9F40DF3-B6E3-FE3B-760E-5ACD88B27568}"/>
                </a:ext>
              </a:extLst>
            </p:cNvPr>
            <p:cNvSpPr/>
            <p:nvPr/>
          </p:nvSpPr>
          <p:spPr>
            <a:xfrm>
              <a:off x="5887363" y="3938830"/>
              <a:ext cx="2105320" cy="10822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600" b="1">
                  <a:solidFill>
                    <a:schemeClr val="bg1"/>
                  </a:solidFill>
                  <a:latin typeface="Trebuchet MS"/>
                </a:rPr>
                <a:t>Responsável pela negociação/ acompanhamento: </a:t>
              </a:r>
              <a:r>
                <a:rPr lang="pt-BR" sz="1600">
                  <a:solidFill>
                    <a:schemeClr val="bg1"/>
                  </a:solidFill>
                  <a:latin typeface="Trebuchet MS"/>
                </a:rPr>
                <a:t>Fábio Assunção</a:t>
              </a:r>
            </a:p>
          </p:txBody>
        </p: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9B9CD42A-3026-6C4B-018D-67A64E248384}"/>
              </a:ext>
            </a:extLst>
          </p:cNvPr>
          <p:cNvSpPr/>
          <p:nvPr/>
        </p:nvSpPr>
        <p:spPr>
          <a:xfrm>
            <a:off x="207819" y="969484"/>
            <a:ext cx="5542986" cy="484743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>
                <a:solidFill>
                  <a:schemeClr val="tx1"/>
                </a:solidFill>
                <a:latin typeface="Trebuchet MS"/>
              </a:rPr>
              <a:t>Coordenação Geral : Gustavo Barbosa 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467B6CD-F831-D536-F38A-6CA62A21CB5D}"/>
              </a:ext>
            </a:extLst>
          </p:cNvPr>
          <p:cNvSpPr/>
          <p:nvPr/>
        </p:nvSpPr>
        <p:spPr>
          <a:xfrm>
            <a:off x="10259388" y="1821777"/>
            <a:ext cx="1800000" cy="3996000"/>
          </a:xfrm>
          <a:prstGeom prst="round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pt-BR" sz="1600" b="1">
              <a:solidFill>
                <a:schemeClr val="bg1"/>
              </a:solidFill>
              <a:latin typeface="Trebuchet MS"/>
            </a:endParaRPr>
          </a:p>
          <a:p>
            <a:pPr algn="ctr"/>
            <a:endParaRPr lang="pt-BR" sz="1600" b="1">
              <a:solidFill>
                <a:schemeClr val="bg1"/>
              </a:solidFill>
              <a:latin typeface="Trebuchet MS"/>
            </a:endParaRPr>
          </a:p>
          <a:p>
            <a:pPr algn="ctr"/>
            <a:endParaRPr lang="pt-BR" sz="1600" b="1">
              <a:solidFill>
                <a:schemeClr val="bg1"/>
              </a:solidFill>
              <a:latin typeface="Trebuchet MS"/>
            </a:endParaRPr>
          </a:p>
          <a:p>
            <a:pPr algn="ctr"/>
            <a:endParaRPr lang="pt-BR" sz="1600" b="1">
              <a:solidFill>
                <a:schemeClr val="bg1"/>
              </a:solidFill>
              <a:latin typeface="Trebuchet MS"/>
            </a:endParaRPr>
          </a:p>
          <a:p>
            <a:pPr algn="ctr"/>
            <a:r>
              <a:rPr lang="pt-BR" sz="1600" b="1">
                <a:solidFill>
                  <a:schemeClr val="bg1"/>
                </a:solidFill>
                <a:latin typeface="Trebuchet MS"/>
              </a:rPr>
              <a:t>Judicialização</a:t>
            </a:r>
            <a:endParaRPr lang="pt-BR" b="1">
              <a:solidFill>
                <a:schemeClr val="bg1"/>
              </a:solidFill>
              <a:latin typeface="Trebuchet MS"/>
            </a:endParaRP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88B2A209-BA1C-E52C-9432-6DD07B96CC09}"/>
              </a:ext>
            </a:extLst>
          </p:cNvPr>
          <p:cNvGrpSpPr/>
          <p:nvPr/>
        </p:nvGrpSpPr>
        <p:grpSpPr>
          <a:xfrm>
            <a:off x="4085207" y="1879967"/>
            <a:ext cx="1800000" cy="3996907"/>
            <a:chOff x="4081307" y="1879967"/>
            <a:chExt cx="1800000" cy="3996907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74819E9D-A0E5-B791-D600-4AF523CFB1D8}"/>
                </a:ext>
              </a:extLst>
            </p:cNvPr>
            <p:cNvSpPr/>
            <p:nvPr/>
          </p:nvSpPr>
          <p:spPr>
            <a:xfrm>
              <a:off x="4081307" y="1879967"/>
              <a:ext cx="1800000" cy="3996907"/>
            </a:xfrm>
            <a:prstGeom prst="roundRect">
              <a:avLst/>
            </a:prstGeom>
            <a:solidFill>
              <a:schemeClr val="accent2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/>
              <a:endParaRPr lang="pt-BR" sz="2000" b="1">
                <a:solidFill>
                  <a:schemeClr val="bg1"/>
                </a:solidFill>
                <a:latin typeface="Trebuchet MS"/>
              </a:endParaRPr>
            </a:p>
            <a:p>
              <a:pPr algn="ctr"/>
              <a:endParaRPr lang="pt-BR" sz="1600" b="1">
                <a:solidFill>
                  <a:schemeClr val="bg1"/>
                </a:solidFill>
                <a:latin typeface="Trebuchet MS"/>
              </a:endParaRPr>
            </a:p>
            <a:p>
              <a:pPr algn="ctr"/>
              <a:endParaRPr lang="pt-BR" sz="1600" b="1">
                <a:solidFill>
                  <a:schemeClr val="bg1"/>
                </a:solidFill>
                <a:latin typeface="Trebuchet MS"/>
              </a:endParaRPr>
            </a:p>
            <a:p>
              <a:pPr algn="ctr"/>
              <a:r>
                <a:rPr lang="pt-BR" sz="1600" b="1">
                  <a:solidFill>
                    <a:schemeClr val="bg1"/>
                  </a:solidFill>
                  <a:latin typeface="Trebuchet MS"/>
                </a:rPr>
                <a:t>Investimentos específicos</a:t>
              </a:r>
              <a:endParaRPr lang="pt-BR" sz="1600">
                <a:solidFill>
                  <a:schemeClr val="bg1"/>
                </a:solidFill>
                <a:latin typeface="Trebuchet MS"/>
              </a:endParaRPr>
            </a:p>
            <a:p>
              <a:pPr algn="ctr"/>
              <a:endParaRPr lang="pt-BR" sz="2000" b="1">
                <a:solidFill>
                  <a:schemeClr val="bg1"/>
                </a:solidFill>
                <a:latin typeface="Trebuchet MS" panose="020B0603020202020204" pitchFamily="34" charset="0"/>
              </a:endParaRPr>
            </a:p>
            <a:p>
              <a:pPr algn="ctr"/>
              <a:endParaRPr lang="pt-BR" sz="2000" b="1">
                <a:solidFill>
                  <a:schemeClr val="bg1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68F3AF19-EAF1-1685-ED25-97CFBE929695}"/>
                </a:ext>
              </a:extLst>
            </p:cNvPr>
            <p:cNvSpPr/>
            <p:nvPr/>
          </p:nvSpPr>
          <p:spPr>
            <a:xfrm>
              <a:off x="4144307" y="3819777"/>
              <a:ext cx="1674000" cy="11110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pt-BR" sz="1600" b="1">
                  <a:solidFill>
                    <a:schemeClr val="bg1"/>
                  </a:solidFill>
                  <a:latin typeface="Trebuchet MS"/>
                </a:rPr>
                <a:t>Responsáveis: </a:t>
              </a:r>
              <a:r>
                <a:rPr lang="pt-BR" sz="1600">
                  <a:solidFill>
                    <a:schemeClr val="bg1"/>
                  </a:solidFill>
                  <a:latin typeface="Trebuchet MS"/>
                </a:rPr>
                <a:t>Fábio Assunção e Felipe Magn</a:t>
              </a:r>
              <a:r>
                <a:rPr lang="pt-BR" sz="1400">
                  <a:solidFill>
                    <a:schemeClr val="bg1"/>
                  </a:solidFill>
                  <a:latin typeface="Trebuchet MS"/>
                </a:rPr>
                <a:t>o</a:t>
              </a:r>
            </a:p>
          </p:txBody>
        </p:sp>
      </p:grpSp>
      <p:sp>
        <p:nvSpPr>
          <p:cNvPr id="19" name="Retângulo 18">
            <a:extLst>
              <a:ext uri="{FF2B5EF4-FFF2-40B4-BE49-F238E27FC236}">
                <a16:creationId xmlns:a16="http://schemas.microsoft.com/office/drawing/2014/main" id="{1EEEAFF3-92E0-2A20-FFA4-529106ACA535}"/>
              </a:ext>
            </a:extLst>
          </p:cNvPr>
          <p:cNvSpPr/>
          <p:nvPr/>
        </p:nvSpPr>
        <p:spPr>
          <a:xfrm>
            <a:off x="10322388" y="3664202"/>
            <a:ext cx="1674000" cy="11110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b="1">
                <a:solidFill>
                  <a:schemeClr val="bg1"/>
                </a:solidFill>
                <a:latin typeface="Trebuchet MS"/>
              </a:rPr>
              <a:t>Responsável:</a:t>
            </a:r>
          </a:p>
          <a:p>
            <a:pPr algn="ctr"/>
            <a:r>
              <a:rPr lang="pt-BR" sz="1600">
                <a:solidFill>
                  <a:schemeClr val="bg1"/>
                </a:solidFill>
                <a:latin typeface="Trebuchet MS"/>
              </a:rPr>
              <a:t>Dr. Sérgio Pessoa</a:t>
            </a:r>
            <a:endParaRPr lang="pt-BR" sz="1600" b="1">
              <a:solidFill>
                <a:schemeClr val="bg1"/>
              </a:solidFill>
              <a:latin typeface="Trebuchet M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DAF57D-085A-FA3C-38BF-AA9C065CAD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02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61A5-DFDF-FBAC-A6ED-E94B637B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2A4EA0F-1B2B-E8FC-3FF0-5D182F4CF8D2}"/>
              </a:ext>
            </a:extLst>
          </p:cNvPr>
          <p:cNvSpPr/>
          <p:nvPr/>
        </p:nvSpPr>
        <p:spPr>
          <a:xfrm>
            <a:off x="453625" y="2706460"/>
            <a:ext cx="9575278" cy="980638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pt-BR" sz="4800" b="1" dirty="0">
                <a:solidFill>
                  <a:schemeClr val="accent4"/>
                </a:solidFill>
                <a:latin typeface="Trebuchet MS"/>
              </a:rPr>
              <a:t> Meta de Educação Profissional     Técnica</a:t>
            </a:r>
            <a:endParaRPr lang="pt-BR" dirty="0">
              <a:solidFill>
                <a:schemeClr val="accent4"/>
              </a:solidFill>
              <a:ea typeface="Calibri" panose="020F0502020204030204"/>
              <a:cs typeface="Calibri" panose="020F0502020204030204"/>
            </a:endParaRPr>
          </a:p>
          <a:p>
            <a:endParaRPr lang="pt-BR" sz="4800" dirty="0">
              <a:solidFill>
                <a:schemeClr val="accent4"/>
              </a:solidFill>
              <a:latin typeface="Trebuchet MS" panose="020B0603020202020204" pitchFamily="34" charset="0"/>
            </a:endParaRPr>
          </a:p>
          <a:p>
            <a:endParaRPr lang="pt-BR" sz="4800" dirty="0">
              <a:solidFill>
                <a:schemeClr val="accent4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6848AB9-FC59-CC77-A5FB-14F83E35E33F}"/>
              </a:ext>
            </a:extLst>
          </p:cNvPr>
          <p:cNvSpPr/>
          <p:nvPr/>
        </p:nvSpPr>
        <p:spPr>
          <a:xfrm>
            <a:off x="382125" y="2839709"/>
            <a:ext cx="143000" cy="13630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4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27BF480-A053-3E0E-59DC-EF0DECE87E7D}"/>
              </a:ext>
            </a:extLst>
          </p:cNvPr>
          <p:cNvSpPr/>
          <p:nvPr/>
        </p:nvSpPr>
        <p:spPr>
          <a:xfrm>
            <a:off x="687076" y="4363754"/>
            <a:ext cx="10636145" cy="1280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pt-BR" sz="2000" b="1">
                <a:solidFill>
                  <a:schemeClr val="tx1"/>
                </a:solidFill>
              </a:rPr>
              <a:t>Coordenação: </a:t>
            </a:r>
            <a:r>
              <a:rPr lang="pt-BR" sz="2000" err="1">
                <a:solidFill>
                  <a:schemeClr val="tx1"/>
                </a:solidFill>
              </a:rPr>
              <a:t>Rossieli</a:t>
            </a:r>
            <a:r>
              <a:rPr lang="pt-BR" sz="2000">
                <a:solidFill>
                  <a:schemeClr val="tx1"/>
                </a:solidFill>
              </a:rPr>
              <a:t> Soares e Stephanie Carvalho</a:t>
            </a:r>
            <a:endParaRPr lang="pt-BR">
              <a:solidFill>
                <a:schemeClr val="tx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EB6E610-F917-AC41-AEF2-FA0364CB85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92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5C4BD-1FB9-6C1C-4C4F-81149267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D99D15D5-A43B-2DAE-44F0-FB82AAF7F831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65ED342-49A4-7F76-F61D-AA3BA67F2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 dirty="0">
                <a:solidFill>
                  <a:schemeClr val="accent4"/>
                </a:solidFill>
                <a:latin typeface="Trebuchet MS"/>
              </a:rPr>
              <a:t>Meta de Educação Profissional Técnica</a:t>
            </a:r>
            <a:endParaRPr lang="pt-BR" sz="2400" cap="all" dirty="0">
              <a:solidFill>
                <a:schemeClr val="accent4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817986A-B814-5124-B603-E0FED99F2E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D3A3355-AF47-B969-305E-5A978D7A508F}"/>
              </a:ext>
            </a:extLst>
          </p:cNvPr>
          <p:cNvGraphicFramePr>
            <a:graphicFrameLocks noGrp="1"/>
          </p:cNvGraphicFramePr>
          <p:nvPr/>
        </p:nvGraphicFramePr>
        <p:xfrm>
          <a:off x="485775" y="1167178"/>
          <a:ext cx="11220450" cy="22875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4711">
                  <a:extLst>
                    <a:ext uri="{9D8B030D-6E8A-4147-A177-3AD203B41FA5}">
                      <a16:colId xmlns:a16="http://schemas.microsoft.com/office/drawing/2014/main" val="1593559255"/>
                    </a:ext>
                  </a:extLst>
                </a:gridCol>
                <a:gridCol w="2547039">
                  <a:extLst>
                    <a:ext uri="{9D8B030D-6E8A-4147-A177-3AD203B41FA5}">
                      <a16:colId xmlns:a16="http://schemas.microsoft.com/office/drawing/2014/main" val="1143758327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834643193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1050582783"/>
                    </a:ext>
                  </a:extLst>
                </a:gridCol>
              </a:tblGrid>
              <a:tr h="312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u="none" strike="noStrike" dirty="0">
                          <a:effectLst/>
                        </a:rPr>
                        <a:t>Indicador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u="none" strike="noStrike" dirty="0">
                          <a:effectLst/>
                        </a:rPr>
                        <a:t>Quantidade de matrículas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u="none" strike="noStrike" dirty="0">
                          <a:effectLst/>
                        </a:rPr>
                        <a:t>Base de dados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u="none" strike="noStrike" dirty="0">
                          <a:effectLst/>
                        </a:rPr>
                        <a:t>Período de referência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82859"/>
                  </a:ext>
                </a:extLst>
              </a:tr>
              <a:tr h="7394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u="none" strike="noStrike" dirty="0">
                          <a:effectLst/>
                        </a:rPr>
                        <a:t>Meta PROPAG </a:t>
                      </a:r>
                    </a:p>
                    <a:p>
                      <a:pPr algn="ctr" fontAlgn="ctr">
                        <a:buNone/>
                      </a:pPr>
                      <a:r>
                        <a:rPr lang="pt-BR" sz="1100" b="0" u="none" strike="noStrike" dirty="0">
                          <a:effectLst/>
                        </a:rPr>
                        <a:t>(ponderada pela população –  metodologia MEC)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u="none" strike="noStrike" dirty="0">
                          <a:effectLst/>
                        </a:rPr>
                        <a:t>188.676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Patamar inicial: Censo Escolar. </a:t>
                      </a:r>
                    </a:p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Acompanhamento anual: pela portaria, SISTEC. Pelo decreto, CENSO/SISTEC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Patamar inicial: 2013</a:t>
                      </a:r>
                      <a:br>
                        <a:rPr lang="pt-BR" sz="1200" u="none" strike="noStrike" dirty="0">
                          <a:effectLst/>
                        </a:rPr>
                      </a:br>
                      <a:r>
                        <a:rPr lang="pt-BR" sz="1200" u="none" strike="noStrike" dirty="0">
                          <a:effectLst/>
                        </a:rPr>
                        <a:t>Acompanhamento: a partir de 2025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350156"/>
                  </a:ext>
                </a:extLst>
              </a:tr>
              <a:tr h="495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u="none" strike="noStrike" dirty="0">
                          <a:effectLst/>
                        </a:rPr>
                        <a:t>Execução da meta pela SEE/MG: 2025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u="none" strike="noStrike" dirty="0">
                          <a:effectLst/>
                        </a:rPr>
                        <a:t>156.358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Censo Escolar 2025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Preenchimento: maio/2025 </a:t>
                      </a:r>
                    </a:p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Divulgação: maio/2026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159975"/>
                  </a:ext>
                </a:extLst>
              </a:tr>
              <a:tr h="7394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u="none" strike="noStrike" dirty="0">
                          <a:effectLst/>
                        </a:rPr>
                        <a:t>Execução da meta pela SEE/MG: mar/2026</a:t>
                      </a: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u="none" strike="noStrike" dirty="0">
                          <a:effectLst/>
                        </a:rPr>
                        <a:t>Aprox. 195.000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SISTEC 2026 ou Censo Escolar 2026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SISTEC: março/2026 </a:t>
                      </a:r>
                    </a:p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Censo: preenchimento maio/2026</a:t>
                      </a:r>
                    </a:p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Divulgação: maio/2027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ctr"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069577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8FA26263-FD80-1E70-4A50-58E4D2B96837}"/>
              </a:ext>
            </a:extLst>
          </p:cNvPr>
          <p:cNvSpPr/>
          <p:nvPr/>
        </p:nvSpPr>
        <p:spPr>
          <a:xfrm>
            <a:off x="485774" y="4137685"/>
            <a:ext cx="10887075" cy="12418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600" dirty="0">
                <a:solidFill>
                  <a:schemeClr val="tx1"/>
                </a:solidFill>
              </a:rPr>
              <a:t>*A Meta 11 do Plano Nacional de Educação prevê a </a:t>
            </a:r>
            <a:r>
              <a:rPr lang="pt-BR" sz="1600" b="1" dirty="0">
                <a:solidFill>
                  <a:schemeClr val="tx1"/>
                </a:solidFill>
              </a:rPr>
              <a:t>triplicação das matrículas em Educação Profissional Técnica (EPT)</a:t>
            </a:r>
            <a:r>
              <a:rPr lang="pt-BR" sz="1600" dirty="0">
                <a:solidFill>
                  <a:schemeClr val="tx1"/>
                </a:solidFill>
              </a:rPr>
              <a:t> em relação a 2013, ano em que a Rede Estadual de Ensino de Minas Gerais registrava </a:t>
            </a:r>
            <a:r>
              <a:rPr lang="pt-BR" sz="1600" b="1" dirty="0">
                <a:solidFill>
                  <a:schemeClr val="tx1"/>
                </a:solidFill>
              </a:rPr>
              <a:t>27.357 matrículas</a:t>
            </a:r>
            <a:r>
              <a:rPr lang="pt-BR" sz="1600" dirty="0">
                <a:solidFill>
                  <a:schemeClr val="tx1"/>
                </a:solidFill>
              </a:rPr>
              <a:t>, o que corresponderia, em termos absolutos, a </a:t>
            </a:r>
            <a:r>
              <a:rPr lang="pt-BR" sz="1600" b="1" dirty="0">
                <a:solidFill>
                  <a:schemeClr val="tx1"/>
                </a:solidFill>
              </a:rPr>
              <a:t>82.071 matrículas</a:t>
            </a:r>
            <a:r>
              <a:rPr lang="pt-BR" sz="1600" dirty="0">
                <a:solidFill>
                  <a:schemeClr val="tx1"/>
                </a:solidFill>
              </a:rPr>
              <a:t>. Contudo, nos termos do </a:t>
            </a:r>
            <a:r>
              <a:rPr lang="pt-BR" sz="1600" b="1" dirty="0">
                <a:solidFill>
                  <a:schemeClr val="tx1"/>
                </a:solidFill>
              </a:rPr>
              <a:t>art. 5º, § 2º, inciso I, da Lei Complementar nº 212/2025</a:t>
            </a:r>
            <a:r>
              <a:rPr lang="pt-BR" sz="1600" dirty="0">
                <a:solidFill>
                  <a:schemeClr val="tx1"/>
                </a:solidFill>
              </a:rPr>
              <a:t>, e do </a:t>
            </a:r>
            <a:r>
              <a:rPr lang="pt-BR" sz="1600" b="1" dirty="0">
                <a:solidFill>
                  <a:schemeClr val="tx1"/>
                </a:solidFill>
              </a:rPr>
              <a:t>art. 70, § 6º, inciso IV, do Decreto nº 12.433</a:t>
            </a:r>
            <a:r>
              <a:rPr lang="pt-BR" sz="1600" dirty="0">
                <a:solidFill>
                  <a:schemeClr val="tx1"/>
                </a:solidFill>
              </a:rPr>
              <a:t>, essa meta deve ser </a:t>
            </a:r>
            <a:r>
              <a:rPr lang="pt-BR" sz="1600" b="1" dirty="0">
                <a:solidFill>
                  <a:schemeClr val="tx1"/>
                </a:solidFill>
              </a:rPr>
              <a:t>ponderada pela população do ente federativo</a:t>
            </a:r>
            <a:r>
              <a:rPr lang="pt-BR" sz="1600" dirty="0">
                <a:solidFill>
                  <a:schemeClr val="tx1"/>
                </a:solidFill>
              </a:rPr>
              <a:t>, com base nos dados do IBGE. Aplicada a metodologia adotada pelo MEC, a meta ajustada para o Estado de Minas Gerais corresponde a </a:t>
            </a:r>
            <a:r>
              <a:rPr lang="pt-BR" sz="1600" b="1" dirty="0">
                <a:solidFill>
                  <a:schemeClr val="tx1"/>
                </a:solidFill>
              </a:rPr>
              <a:t>188.676 matrículas em EPT</a:t>
            </a:r>
            <a:r>
              <a:rPr lang="pt-BR" sz="160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26481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080A7-5D26-0C57-06B3-C3569BB0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3ED7ADE3-D49B-1E33-8F21-686AF2A6E0BF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6B2F7F2-B40B-12F1-ED7E-31FF99A77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 dirty="0">
                <a:solidFill>
                  <a:schemeClr val="accent4"/>
                </a:solidFill>
                <a:latin typeface="Trebuchet MS"/>
              </a:rPr>
              <a:t>Portaria MEC nº 930, de 30 de dezembro de 2025</a:t>
            </a:r>
            <a:endParaRPr lang="pt-BR" sz="2400" cap="all" dirty="0">
              <a:solidFill>
                <a:schemeClr val="accent4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BF5F822-A2C0-25E9-1702-A25108B185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FA26263-FD80-1E70-4A50-58E4D2B96837}"/>
              </a:ext>
            </a:extLst>
          </p:cNvPr>
          <p:cNvSpPr/>
          <p:nvPr/>
        </p:nvSpPr>
        <p:spPr>
          <a:xfrm>
            <a:off x="381000" y="1038224"/>
            <a:ext cx="10887075" cy="51478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tx1"/>
                </a:solidFill>
              </a:rPr>
              <a:t>Base das metas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Metas seguem o Plano Nacional de Educação – PNE vigente, até o lançamento de um novo. (Art. 3º).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Consideram-se apenas </a:t>
            </a:r>
            <a:r>
              <a:rPr lang="pt-BR" sz="1600" u="sng" dirty="0">
                <a:solidFill>
                  <a:schemeClr val="tx1"/>
                </a:solidFill>
              </a:rPr>
              <a:t>matrículas das redes estaduais, diretas ou em parceria</a:t>
            </a:r>
            <a:r>
              <a:rPr lang="pt-BR" sz="1600" dirty="0">
                <a:solidFill>
                  <a:schemeClr val="tx1"/>
                </a:solidFill>
              </a:rPr>
              <a:t> (Art. 3º, §1º).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Metas são ponderadas por população e ano (Art. 3º, §2º).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A meta estabelecida para o Estado de Minas Gerais é de </a:t>
            </a:r>
            <a:r>
              <a:rPr lang="pt-BR" sz="1600" b="1" dirty="0">
                <a:solidFill>
                  <a:schemeClr val="tx1"/>
                </a:solidFill>
              </a:rPr>
              <a:t>188.676 matrículas.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r>
              <a:rPr lang="pt-BR" sz="1600" b="1" dirty="0">
                <a:solidFill>
                  <a:schemeClr val="tx1"/>
                </a:solidFill>
              </a:rPr>
              <a:t>Cálculo das metas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Patamar inicial: matrículas registradas no Censo Escolar usado como linha de base do PNE (Art. 4º).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Déficit é calculado subtraindo o patamar atual, calculado a partir dos dados do último Censo Escolar, do patamar inicial (Art. 4º, §2º).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r>
              <a:rPr lang="pt-BR" sz="1600" b="1" dirty="0">
                <a:solidFill>
                  <a:schemeClr val="tx1"/>
                </a:solidFill>
              </a:rPr>
              <a:t>Avaliação anual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Avaliação com base no </a:t>
            </a:r>
            <a:r>
              <a:rPr lang="pt-BR" sz="1600" dirty="0" err="1">
                <a:solidFill>
                  <a:schemeClr val="tx1"/>
                </a:solidFill>
              </a:rPr>
              <a:t>Sistec</a:t>
            </a:r>
            <a:r>
              <a:rPr lang="pt-BR" sz="1600" dirty="0">
                <a:solidFill>
                  <a:schemeClr val="tx1"/>
                </a:solidFill>
              </a:rPr>
              <a:t> (Art. 5º).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Matrículas devem ser registradas no </a:t>
            </a:r>
            <a:r>
              <a:rPr lang="pt-BR" sz="1600" dirty="0" err="1">
                <a:solidFill>
                  <a:schemeClr val="tx1"/>
                </a:solidFill>
              </a:rPr>
              <a:t>Sistec</a:t>
            </a:r>
            <a:r>
              <a:rPr lang="pt-BR" sz="1600" dirty="0">
                <a:solidFill>
                  <a:schemeClr val="tx1"/>
                </a:solidFill>
              </a:rPr>
              <a:t> pelas redes e instituições parceiras (Art. 5º, §1º).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Os Estados são responsáveis pela validação e tempestividade dos registros (Art. 5º, §2º).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r>
              <a:rPr lang="pt-BR" sz="1600" b="1" dirty="0">
                <a:solidFill>
                  <a:schemeClr val="tx1"/>
                </a:solidFill>
              </a:rPr>
              <a:t>Regras para matrícula válida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A matrícula só é válida para fins de contabilização da meta 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Criada </a:t>
            </a:r>
            <a:r>
              <a:rPr lang="pt-BR" sz="1600" u="sng" dirty="0">
                <a:solidFill>
                  <a:schemeClr val="tx1"/>
                </a:solidFill>
              </a:rPr>
              <a:t>após a adesão ao Programa </a:t>
            </a:r>
            <a:r>
              <a:rPr lang="pt-BR" sz="1600" dirty="0">
                <a:solidFill>
                  <a:schemeClr val="tx1"/>
                </a:solidFill>
              </a:rPr>
              <a:t>(Art. 7º, caput)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Registrada no </a:t>
            </a:r>
            <a:r>
              <a:rPr lang="pt-BR" sz="1600" dirty="0" err="1">
                <a:solidFill>
                  <a:schemeClr val="tx1"/>
                </a:solidFill>
              </a:rPr>
              <a:t>Sistec</a:t>
            </a:r>
            <a:r>
              <a:rPr lang="pt-BR" sz="1600" dirty="0">
                <a:solidFill>
                  <a:schemeClr val="tx1"/>
                </a:solidFill>
              </a:rPr>
              <a:t> (Art. 5º, §1º)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Com frequência registrada pela instituição e confirmada pelo aluno (Art. 7º, §1º)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Os Estados devem garantir frequência mínima e ações de permanência e êxito (Art. 7º, §3º).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Em 2025, possui </a:t>
            </a:r>
            <a:r>
              <a:rPr lang="pt-BR" sz="1600" b="1" dirty="0">
                <a:solidFill>
                  <a:schemeClr val="tx1"/>
                </a:solidFill>
              </a:rPr>
              <a:t>156.358 matrículas ativas </a:t>
            </a:r>
            <a:r>
              <a:rPr lang="pt-BR" sz="1600" dirty="0">
                <a:solidFill>
                  <a:schemeClr val="tx1"/>
                </a:solidFill>
              </a:rPr>
              <a:t>em Educação Profissional e Tecnológica (EPT)</a:t>
            </a:r>
          </a:p>
        </p:txBody>
      </p:sp>
    </p:spTree>
    <p:extLst>
      <p:ext uri="{BB962C8B-B14F-4D97-AF65-F5344CB8AC3E}">
        <p14:creationId xmlns:p14="http://schemas.microsoft.com/office/powerpoint/2010/main" val="4252619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06C19-44B6-3A77-F824-7714A74B6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94476B8B-D243-D832-CD8A-F708F3173561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1F59359-06F4-3963-C524-C1ED69501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 dirty="0">
                <a:solidFill>
                  <a:schemeClr val="accent4"/>
                </a:solidFill>
                <a:latin typeface="Trebuchet MS"/>
              </a:rPr>
              <a:t>PLANO DE INVESTIMENTOS</a:t>
            </a:r>
            <a:endParaRPr lang="pt-BR" sz="2400" cap="all" dirty="0">
              <a:solidFill>
                <a:schemeClr val="accent4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E20C3CC-5466-5BB6-D5A0-121D72C777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86F68FC-0101-DCAC-0977-98F5D906068B}"/>
              </a:ext>
            </a:extLst>
          </p:cNvPr>
          <p:cNvSpPr/>
          <p:nvPr/>
        </p:nvSpPr>
        <p:spPr>
          <a:xfrm>
            <a:off x="652462" y="3025750"/>
            <a:ext cx="10887075" cy="3856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chemeClr val="tx1"/>
                </a:solidFill>
              </a:rPr>
              <a:t>Obs.: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O valor de R$ 620 milhões será gasto pela SEE independente da vinculação ao Propag.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079BB52-EF6E-18AC-F778-8E551C392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624508"/>
              </p:ext>
            </p:extLst>
          </p:nvPr>
        </p:nvGraphicFramePr>
        <p:xfrm>
          <a:off x="1217538" y="1833563"/>
          <a:ext cx="8848724" cy="746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7837">
                  <a:extLst>
                    <a:ext uri="{9D8B030D-6E8A-4147-A177-3AD203B41FA5}">
                      <a16:colId xmlns:a16="http://schemas.microsoft.com/office/drawing/2014/main" val="3369709251"/>
                    </a:ext>
                  </a:extLst>
                </a:gridCol>
                <a:gridCol w="1774353">
                  <a:extLst>
                    <a:ext uri="{9D8B030D-6E8A-4147-A177-3AD203B41FA5}">
                      <a16:colId xmlns:a16="http://schemas.microsoft.com/office/drawing/2014/main" val="3550152439"/>
                    </a:ext>
                  </a:extLst>
                </a:gridCol>
                <a:gridCol w="1728267">
                  <a:extLst>
                    <a:ext uri="{9D8B030D-6E8A-4147-A177-3AD203B41FA5}">
                      <a16:colId xmlns:a16="http://schemas.microsoft.com/office/drawing/2014/main" val="311744389"/>
                    </a:ext>
                  </a:extLst>
                </a:gridCol>
                <a:gridCol w="1728267">
                  <a:extLst>
                    <a:ext uri="{9D8B030D-6E8A-4147-A177-3AD203B41FA5}">
                      <a16:colId xmlns:a16="http://schemas.microsoft.com/office/drawing/2014/main" val="227973626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1" u="none" strike="noStrike" dirty="0">
                          <a:effectLst/>
                          <a:latin typeface="+mn-lt"/>
                        </a:rPr>
                        <a:t>Ação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1" u="none" strike="noStrike" dirty="0">
                          <a:effectLst/>
                          <a:latin typeface="+mn-lt"/>
                        </a:rPr>
                        <a:t>Valor </a:t>
                      </a:r>
                      <a:r>
                        <a:rPr lang="pt-BR" sz="1600" b="1" u="none" strike="noStrike" dirty="0" err="1">
                          <a:effectLst/>
                          <a:latin typeface="+mn-lt"/>
                        </a:rPr>
                        <a:t>Propag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1" u="none" strike="noStrike" dirty="0">
                          <a:effectLst/>
                          <a:latin typeface="+mn-lt"/>
                        </a:rPr>
                        <a:t>Valor FEF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7620" marR="7620" marT="762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5325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1" u="none" strike="noStrike" dirty="0">
                          <a:effectLst/>
                          <a:latin typeface="+mn-lt"/>
                        </a:rPr>
                        <a:t>Implementação e Expansão de matrículas - oferta própria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R$ 567.561.976</a:t>
                      </a:r>
                    </a:p>
                  </a:txBody>
                  <a:tcPr marL="7620" marR="7620" marT="762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R$ 52.964.615</a:t>
                      </a:r>
                    </a:p>
                  </a:txBody>
                  <a:tcPr marL="7620" marR="7620" marT="762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pt-BR" sz="16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$ 620.526.591</a:t>
                      </a:r>
                      <a:endParaRPr lang="pt-BR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007578"/>
                  </a:ext>
                </a:extLst>
              </a:tr>
            </a:tbl>
          </a:graphicData>
        </a:graphic>
      </p:graphicFrame>
      <p:sp>
        <p:nvSpPr>
          <p:cNvPr id="7" name="Retângulo 6">
            <a:extLst>
              <a:ext uri="{FF2B5EF4-FFF2-40B4-BE49-F238E27FC236}">
                <a16:creationId xmlns:a16="http://schemas.microsoft.com/office/drawing/2014/main" id="{8C70890F-5CFC-0684-517D-78C317B40A47}"/>
              </a:ext>
            </a:extLst>
          </p:cNvPr>
          <p:cNvSpPr/>
          <p:nvPr/>
        </p:nvSpPr>
        <p:spPr>
          <a:xfrm>
            <a:off x="652462" y="3709153"/>
            <a:ext cx="10887075" cy="16383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tx1"/>
                </a:solidFill>
              </a:rPr>
              <a:t>Pontos de Atenção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Como a Portaria restringe as metas a rede estadual de ensino, a meta não é alcançada em 2025.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O valor previsto de cerca de 195 mil estudantes em EPT é uma estimativa. Somente serão consideradas para o cumprimento da meta, os alunos com matrícula ativa.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09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C2EBC-4E21-4FB3-095D-DB097267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53AF33E-D3C0-FCFB-D452-C725933BD417}"/>
              </a:ext>
            </a:extLst>
          </p:cNvPr>
          <p:cNvSpPr/>
          <p:nvPr/>
        </p:nvSpPr>
        <p:spPr>
          <a:xfrm>
            <a:off x="453625" y="2706460"/>
            <a:ext cx="9575278" cy="980638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pt-BR" sz="4800" b="1" dirty="0">
                <a:solidFill>
                  <a:schemeClr val="accent4"/>
                </a:solidFill>
                <a:latin typeface="Trebuchet MS"/>
              </a:rPr>
              <a:t> Outros investimentos </a:t>
            </a:r>
            <a:r>
              <a:rPr lang="pt-BR" sz="4800" b="1" dirty="0" err="1">
                <a:solidFill>
                  <a:schemeClr val="accent4"/>
                </a:solidFill>
                <a:latin typeface="Trebuchet MS"/>
              </a:rPr>
              <a:t>Propag</a:t>
            </a:r>
            <a:endParaRPr lang="pt-BR" sz="4800" b="1" dirty="0" err="1">
              <a:solidFill>
                <a:schemeClr val="accent4"/>
              </a:solidFill>
              <a:latin typeface="Trebuchet MS"/>
              <a:ea typeface="Calibri" panose="020F0502020204030204"/>
              <a:cs typeface="Calibri" panose="020F0502020204030204"/>
            </a:endParaRPr>
          </a:p>
          <a:p>
            <a:endParaRPr lang="pt-BR" sz="4800" dirty="0">
              <a:solidFill>
                <a:schemeClr val="accent4"/>
              </a:solidFill>
              <a:latin typeface="Trebuchet MS" panose="020B0603020202020204" pitchFamily="34" charset="0"/>
            </a:endParaRPr>
          </a:p>
          <a:p>
            <a:endParaRPr lang="pt-BR" sz="4800" dirty="0">
              <a:solidFill>
                <a:schemeClr val="accent4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0173FF3-EA33-A450-D73A-8F05CD94D164}"/>
              </a:ext>
            </a:extLst>
          </p:cNvPr>
          <p:cNvSpPr/>
          <p:nvPr/>
        </p:nvSpPr>
        <p:spPr>
          <a:xfrm>
            <a:off x="382125" y="2839709"/>
            <a:ext cx="143000" cy="13630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4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9CA8F05-549F-1F65-440C-233DDB292A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96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4A0A0-8232-CD24-3453-E7008F996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04B1EDB1-94F8-6EF5-979F-38A9F918869B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F935FC6-34BA-5971-E6BB-BC7931845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 dirty="0">
                <a:solidFill>
                  <a:schemeClr val="accent4"/>
                </a:solidFill>
                <a:latin typeface="Trebuchet MS"/>
              </a:rPr>
              <a:t>INVESTIMENTOS PROPAG - PREMISSAS</a:t>
            </a:r>
            <a:endParaRPr lang="pt-BR" sz="2400" cap="all" dirty="0">
              <a:solidFill>
                <a:schemeClr val="accent4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C25354A-9196-D889-191E-374F8C534F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0B7AD8C5-4782-AF00-267C-4A87D2C112A3}"/>
              </a:ext>
            </a:extLst>
          </p:cNvPr>
          <p:cNvSpPr/>
          <p:nvPr/>
        </p:nvSpPr>
        <p:spPr>
          <a:xfrm>
            <a:off x="151078" y="855076"/>
            <a:ext cx="11553878" cy="51478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tx1"/>
                </a:solidFill>
              </a:rPr>
              <a:t>O Estudo de alocação considera os valores mais atualizados para as despesas de reversão de serviços da dívida em investimentos, e de valores do FEF para o exercício: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Valores de reversão reduzidos em R$43 milhões considerando o estoque atualizado da dívida;</a:t>
            </a:r>
            <a:endParaRPr lang="pt-BR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Valores do FEF reduzidos em R$569 milhões, considerando que os valores referentes a 2026 serão recebidos apenas em outubro e podem ser executados em 2027;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>
              <a:buFont typeface="Arial,Sans-Serif" panose="05000000000000000000" pitchFamily="2" charset="2"/>
              <a:buChar char="•"/>
            </a:pPr>
            <a:endParaRPr lang="pt-BR" dirty="0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tx1"/>
                </a:solidFill>
              </a:rPr>
              <a:t>Os ajustes consideram os recursos liberados em 2025 para liquidação em 2026 e a reprogramação do setor infraestrutura;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Font typeface="Wingdings,Sans-Serif" panose="05000000000000000000" pitchFamily="2" charset="2"/>
              <a:buChar char="ü"/>
            </a:pPr>
            <a:endParaRPr lang="pt-BR" dirty="0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tx1"/>
                </a:solidFill>
              </a:rPr>
              <a:t>Cenários foram construídos considerando o fato apresentado de meta EPT não cumprida até março, o que demanda envio de plano de aplicação </a:t>
            </a:r>
            <a:r>
              <a:rPr lang="pt-BR" u="sng" dirty="0">
                <a:solidFill>
                  <a:schemeClr val="tx1"/>
                </a:solidFill>
              </a:rPr>
              <a:t>mínimo </a:t>
            </a:r>
            <a:r>
              <a:rPr lang="pt-BR" dirty="0">
                <a:solidFill>
                  <a:schemeClr val="tx1"/>
                </a:solidFill>
              </a:rPr>
              <a:t>de 30% para a política;</a:t>
            </a:r>
            <a:endParaRPr lang="pt-BR" dirty="0">
              <a:solidFill>
                <a:schemeClr val="tx1"/>
              </a:solidFill>
              <a:ea typeface="Calibri"/>
              <a:cs typeface="Calibri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Cenário 1: Envio de 30% para EPT e 70% para demais políticas previstas na legislação;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Cenário 2 2: Envio de 30% para EPT e 100% para demais políticas previstas na legislação;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914400" lvl="1" indent="-457200">
              <a:buFont typeface="Arial,Sans-Serif" panose="05000000000000000000" pitchFamily="2" charset="2"/>
              <a:buChar char="•"/>
            </a:pPr>
            <a:endParaRPr lang="pt-BR" dirty="0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tx1"/>
                </a:solidFill>
              </a:rPr>
              <a:t>A exibição do cenário 2 se dá pelo fato de a legislação prever a possibilidade de revisão do plano de aplicação em EPT, mas não para as demais políticas. De acordo com a STN, a análise de distorções ficará a cargo de cada Tribunal de Contas;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635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D1D56-3056-1404-CD6A-D43AEA12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ixaDeTexto 38">
            <a:extLst>
              <a:ext uri="{FF2B5EF4-FFF2-40B4-BE49-F238E27FC236}">
                <a16:creationId xmlns:a16="http://schemas.microsoft.com/office/drawing/2014/main" id="{897AF3BC-C0B0-DA97-F468-CF11FF2DA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" y="142989"/>
            <a:ext cx="12367926" cy="90486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  <a:defRPr/>
            </a:pPr>
            <a:r>
              <a:rPr lang="pt-BR" sz="2400" b="1" cap="all" dirty="0">
                <a:solidFill>
                  <a:schemeClr val="accent4"/>
                </a:solidFill>
                <a:latin typeface="Trebuchet MS"/>
                <a:ea typeface="ＭＳ Ｐゴシック"/>
              </a:rPr>
              <a:t>INVESTIMENTOS PROPAG - CENÁRIOS</a:t>
            </a:r>
            <a:endParaRPr lang="pt-BR" sz="2400" cap="all" dirty="0">
              <a:solidFill>
                <a:srgbClr val="000000"/>
              </a:solidFill>
              <a:latin typeface="Trebuchet MS"/>
              <a:ea typeface="ＭＳ Ｐゴシック"/>
            </a:endParaRPr>
          </a:p>
          <a:p>
            <a:pPr>
              <a:spcAft>
                <a:spcPts val="400"/>
              </a:spcAft>
              <a:buNone/>
              <a:defRPr/>
            </a:pPr>
            <a:endParaRPr lang="pt-BR" sz="2400" b="1" cap="all" dirty="0">
              <a:solidFill>
                <a:schemeClr val="accent2"/>
              </a:solidFill>
              <a:latin typeface="Trebuchet MS"/>
            </a:endParaRP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882D9FDC-A6FF-ECA0-5257-3B3FC8EE1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388" y="138635"/>
            <a:ext cx="1840461" cy="360000"/>
          </a:xfrm>
          <a:prstGeom prst="rect">
            <a:avLst/>
          </a:prstGeom>
        </p:spPr>
      </p:pic>
      <p:cxnSp>
        <p:nvCxnSpPr>
          <p:cNvPr id="3" name="Conector reto 4">
            <a:extLst>
              <a:ext uri="{FF2B5EF4-FFF2-40B4-BE49-F238E27FC236}">
                <a16:creationId xmlns:a16="http://schemas.microsoft.com/office/drawing/2014/main" id="{98F4912D-7858-7BEC-B8A2-073EC7632879}"/>
              </a:ext>
            </a:extLst>
          </p:cNvPr>
          <p:cNvCxnSpPr>
            <a:cxnSpLocks/>
          </p:cNvCxnSpPr>
          <p:nvPr/>
        </p:nvCxnSpPr>
        <p:spPr>
          <a:xfrm>
            <a:off x="54371" y="563975"/>
            <a:ext cx="12130410" cy="2677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DD66DFF1-EAF6-9501-895D-591831B40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2" y="749169"/>
            <a:ext cx="10725656" cy="567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49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38BD5-5CA3-0A62-C70F-45C36ECD4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18CECA99-EEEB-E4E2-E213-D8E0D7C657DA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A4FCAC1-C0EC-7AC2-47B1-551163C0B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 dirty="0">
                <a:solidFill>
                  <a:schemeClr val="accent4"/>
                </a:solidFill>
                <a:latin typeface="Trebuchet MS"/>
              </a:rPr>
              <a:t>Investimentos </a:t>
            </a:r>
            <a:r>
              <a:rPr lang="pt-BR" sz="2400" b="1" cap="all" dirty="0" err="1">
                <a:solidFill>
                  <a:schemeClr val="accent4"/>
                </a:solidFill>
                <a:latin typeface="Trebuchet MS"/>
              </a:rPr>
              <a:t>propag</a:t>
            </a:r>
            <a:r>
              <a:rPr lang="pt-BR" sz="2400" b="1" cap="all" dirty="0">
                <a:solidFill>
                  <a:schemeClr val="accent4"/>
                </a:solidFill>
                <a:latin typeface="Trebuchet MS"/>
              </a:rPr>
              <a:t> – projetos segurança pública 2026</a:t>
            </a:r>
            <a:endParaRPr lang="pt-BR" sz="2400" cap="all" dirty="0">
              <a:solidFill>
                <a:schemeClr val="accent4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D647C5-2439-1090-0121-0D9ACB6B3A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BE8E518-8926-59BF-E5AB-FC39201B0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015" y="759495"/>
            <a:ext cx="9699970" cy="601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663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D1D56-3056-1404-CD6A-D43AEA12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ixaDeTexto 38">
            <a:extLst>
              <a:ext uri="{FF2B5EF4-FFF2-40B4-BE49-F238E27FC236}">
                <a16:creationId xmlns:a16="http://schemas.microsoft.com/office/drawing/2014/main" id="{897AF3BC-C0B0-DA97-F468-CF11FF2DA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" y="142989"/>
            <a:ext cx="12367926" cy="90486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  <a:defRPr/>
            </a:pPr>
            <a:r>
              <a:rPr lang="pt-BR" sz="2400" b="1" cap="all" dirty="0">
                <a:solidFill>
                  <a:schemeClr val="accent4"/>
                </a:solidFill>
                <a:latin typeface="Trebuchet MS"/>
                <a:ea typeface="ＭＳ Ｐゴシック"/>
              </a:rPr>
              <a:t>loa 2026  - investimentos</a:t>
            </a:r>
            <a:endParaRPr lang="pt-BR" sz="2400" cap="all" dirty="0">
              <a:solidFill>
                <a:schemeClr val="accent4"/>
              </a:solidFill>
              <a:latin typeface="Trebuchet MS"/>
              <a:ea typeface="ＭＳ Ｐゴシック"/>
            </a:endParaRPr>
          </a:p>
          <a:p>
            <a:pPr>
              <a:spcAft>
                <a:spcPts val="400"/>
              </a:spcAft>
              <a:buNone/>
              <a:defRPr/>
            </a:pPr>
            <a:endParaRPr lang="pt-BR" sz="2400" b="1" cap="all" dirty="0">
              <a:solidFill>
                <a:schemeClr val="accent2"/>
              </a:solidFill>
              <a:latin typeface="Trebuchet MS"/>
            </a:endParaRP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882D9FDC-A6FF-ECA0-5257-3B3FC8EE1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388" y="138635"/>
            <a:ext cx="1840461" cy="360000"/>
          </a:xfrm>
          <a:prstGeom prst="rect">
            <a:avLst/>
          </a:prstGeom>
        </p:spPr>
      </p:pic>
      <p:cxnSp>
        <p:nvCxnSpPr>
          <p:cNvPr id="3" name="Conector reto 4">
            <a:extLst>
              <a:ext uri="{FF2B5EF4-FFF2-40B4-BE49-F238E27FC236}">
                <a16:creationId xmlns:a16="http://schemas.microsoft.com/office/drawing/2014/main" id="{98F4912D-7858-7BEC-B8A2-073EC7632879}"/>
              </a:ext>
            </a:extLst>
          </p:cNvPr>
          <p:cNvCxnSpPr>
            <a:cxnSpLocks/>
          </p:cNvCxnSpPr>
          <p:nvPr/>
        </p:nvCxnSpPr>
        <p:spPr>
          <a:xfrm>
            <a:off x="54371" y="563975"/>
            <a:ext cx="12130410" cy="2677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665E88BD-9C48-7BAF-F389-713605F52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55" y="1503590"/>
            <a:ext cx="11897262" cy="346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209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1e7f20-fe0a-487d-91a9-605ac1c64acf" xsi:nil="true"/>
    <lcf76f155ced4ddcb4097134ff3c332f xmlns="6f4338ef-addb-4c87-aefe-1895241b335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8D58FADB61F04EBBB4F355C06EFBED" ma:contentTypeVersion="19" ma:contentTypeDescription="Crie um novo documento." ma:contentTypeScope="" ma:versionID="d0ba1b245572eedd921b2c6ec9bfee0a">
  <xsd:schema xmlns:xsd="http://www.w3.org/2001/XMLSchema" xmlns:xs="http://www.w3.org/2001/XMLSchema" xmlns:p="http://schemas.microsoft.com/office/2006/metadata/properties" xmlns:ns2="6f4338ef-addb-4c87-aefe-1895241b335f" xmlns:ns3="b91e7f20-fe0a-487d-91a9-605ac1c64acf" targetNamespace="http://schemas.microsoft.com/office/2006/metadata/properties" ma:root="true" ma:fieldsID="ec7c5ac78a98b7270d2fdb6a7440bc64" ns2:_="" ns3:_="">
    <xsd:import namespace="6f4338ef-addb-4c87-aefe-1895241b335f"/>
    <xsd:import namespace="b91e7f20-fe0a-487d-91a9-605ac1c64a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338ef-addb-4c87-aefe-1895241b3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917d32f3-4fa4-4f5b-a8d0-62dbd3d265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e7f20-fe0a-487d-91a9-605ac1c64ac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8708050-f001-4dcd-9fe1-c60e835c33fc}" ma:internalName="TaxCatchAll" ma:showField="CatchAllData" ma:web="b91e7f20-fe0a-487d-91a9-605ac1c64a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A44B0B-D4BD-4A60-9141-24776A7557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979728-2076-4C4B-9DF4-C198F22BF243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b91e7f20-fe0a-487d-91a9-605ac1c64acf"/>
    <ds:schemaRef ds:uri="6f4338ef-addb-4c87-aefe-1895241b335f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3513E85-CEED-45C7-B9C4-EE952368B5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4338ef-addb-4c87-aefe-1895241b335f"/>
    <ds:schemaRef ds:uri="b91e7f20-fe0a-487d-91a9-605ac1c64a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952</Words>
  <Application>Microsoft Office PowerPoint</Application>
  <PresentationFormat>Widescreen</PresentationFormat>
  <Paragraphs>125</Paragraphs>
  <Slides>11</Slides>
  <Notes>7</Notes>
  <HiddenSlides>2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Arial,Sans-Serif</vt:lpstr>
      <vt:lpstr>Calibri</vt:lpstr>
      <vt:lpstr>Calibri Light</vt:lpstr>
      <vt:lpstr>Trebuchet MS</vt:lpstr>
      <vt:lpstr>Wingdings</vt:lpstr>
      <vt:lpstr>Wingdings,Sans-Serif</vt:lpstr>
      <vt:lpstr>Tema do Office</vt:lpstr>
      <vt:lpstr>REUNIÃO DE STATUS PROPAG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Ana Carolina Schiavon Cordeiro</dc:creator>
  <cp:lastModifiedBy>Viviane Nascimento</cp:lastModifiedBy>
  <cp:revision>104</cp:revision>
  <dcterms:created xsi:type="dcterms:W3CDTF">2025-01-22T13:19:17Z</dcterms:created>
  <dcterms:modified xsi:type="dcterms:W3CDTF">2026-01-13T17:53:13Z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0x010100B08D58FADB61F04EBBB4F355C06EFBED</vt:lpwstr>
  </property>
  <property fmtid="{D5CDD505-2E9C-101B-9397-08002B2CF9AE}" pid="3" name="MediaServiceImageTags">
    <vt:lpwstr/>
  </property>
</Properties>
</file>