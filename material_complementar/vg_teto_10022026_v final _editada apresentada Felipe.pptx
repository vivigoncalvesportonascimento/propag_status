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1973" r:id="rId5"/>
    <p:sldId id="2100" r:id="rId6"/>
    <p:sldId id="2084" r:id="rId7"/>
    <p:sldId id="2088" r:id="rId8"/>
    <p:sldId id="2086" r:id="rId9"/>
    <p:sldId id="2085" r:id="rId10"/>
    <p:sldId id="2096" r:id="rId11"/>
    <p:sldId id="2097" r:id="rId12"/>
    <p:sldId id="2098" r:id="rId13"/>
    <p:sldId id="2099" r:id="rId14"/>
    <p:sldId id="2069" r:id="rId15"/>
    <p:sldId id="2092" r:id="rId16"/>
    <p:sldId id="2093" r:id="rId17"/>
    <p:sldId id="2094" r:id="rId18"/>
    <p:sldId id="2095" r:id="rId19"/>
    <p:sldId id="2091" r:id="rId20"/>
    <p:sldId id="2060" r:id="rId21"/>
    <p:sldId id="2090" r:id="rId22"/>
    <p:sldId id="2101" r:id="rId23"/>
    <p:sldId id="2102" r:id="rId24"/>
    <p:sldId id="2104" r:id="rId25"/>
    <p:sldId id="2103" r:id="rId26"/>
    <p:sldId id="2105" r:id="rId27"/>
    <p:sldId id="2106" r:id="rId28"/>
    <p:sldId id="2108" r:id="rId29"/>
    <p:sldId id="2107" r:id="rId30"/>
  </p:sldIdLst>
  <p:sldSz cx="9144000" cy="5715000" type="screen16x10"/>
  <p:notesSz cx="6858000" cy="9872663"/>
  <p:defaultTextStyle>
    <a:defPPr>
      <a:defRPr lang="pt-BR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0ABFDF0-A0B6-4D7E-A994-5F268A5D3EC8}">
          <p14:sldIdLst>
            <p14:sldId id="1973"/>
            <p14:sldId id="2100"/>
            <p14:sldId id="2084"/>
            <p14:sldId id="2088"/>
            <p14:sldId id="2086"/>
            <p14:sldId id="2085"/>
            <p14:sldId id="2096"/>
            <p14:sldId id="2097"/>
            <p14:sldId id="2098"/>
            <p14:sldId id="2099"/>
            <p14:sldId id="2069"/>
            <p14:sldId id="2092"/>
            <p14:sldId id="2093"/>
            <p14:sldId id="2094"/>
            <p14:sldId id="2095"/>
            <p14:sldId id="2091"/>
            <p14:sldId id="2060"/>
            <p14:sldId id="2090"/>
            <p14:sldId id="2101"/>
            <p14:sldId id="2102"/>
            <p14:sldId id="2104"/>
            <p14:sldId id="2103"/>
            <p14:sldId id="2105"/>
            <p14:sldId id="2106"/>
            <p14:sldId id="2108"/>
            <p14:sldId id="21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C5F359-4062-A34B-D1A2-A7CD8A20D7FE}" name="Luciana Muller Souza Coelho (SEPLAG)" initials="L(" userId="S::m1572745@ca.mg.gov.br::dc2c15f8-e2f0-4524-9b51-7007482321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48" y="7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6671-8C80-4EF4-B4E2-42C9392A30B7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751219"/>
            <a:ext cx="548640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9377318"/>
            <a:ext cx="2971800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43DB2-8030-405F-9866-85AE58B6CC2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48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09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2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35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42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65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870" algn="l" defTabSz="91421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025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972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652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91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24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375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229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77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586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879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A283-21C6-49C6-9FED-61C9AECA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810E43-4D08-C8A1-5F9D-DAEEA7EEB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EBB05C-6D47-F7D7-13D3-76E8B60D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PMMG informa o prazo de 09/02, com ajuste de 01-03 dias negociando com fornecedores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F45AC1-540C-5A20-5E7C-7FD880696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542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2DA71-DBC1-E0D6-66D1-3CEDF92A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D8FD03-1D8D-6D13-6416-3FAD5A020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A41CE4-AE07-58FD-27ED-C8336353D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Processo</a:t>
            </a:r>
            <a:r>
              <a:rPr lang="pt-BR" baseline="0"/>
              <a:t> ainda não tramitado para DCMEFO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95EE6C-5896-1A80-0116-3BE80B2696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903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7BF9-DBF3-2FFC-5B5C-9E01EB58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BEBC3E-88A2-27DE-6DDB-8F91198CF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C8BCEA-A031-3BF8-6687-F20EF904E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Processo</a:t>
            </a:r>
            <a:r>
              <a:rPr lang="pt-BR" baseline="0"/>
              <a:t> ainda não tramitado para DCMEFO</a:t>
            </a: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F3FA2D-383A-6957-977C-8C6F70EEA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513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192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94D8-2902-E980-DDAC-440AFC5D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95F6620-79C4-459F-2481-668889024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1235075"/>
            <a:ext cx="5327650" cy="3330575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5EBC0F-727A-9ECB-7BF5-DEC9B31F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28F219-CCC7-5BB9-4686-912318EA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F6DEFE-2DE4-4B38-A3BC-FAEDA1FA58F0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171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503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004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C43DB2-8030-405F-9866-85AE58B6CC23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0712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441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620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691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908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6727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6282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F1A2429-57B7-7D35-7050-8A449A95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>
            <a:extLst>
              <a:ext uri="{FF2B5EF4-FFF2-40B4-BE49-F238E27FC236}">
                <a16:creationId xmlns:a16="http://schemas.microsoft.com/office/drawing/2014/main" id="{ED66ACAD-7A36-9030-2241-61C29DC7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5175" y="1235075"/>
            <a:ext cx="5327650" cy="3330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>
            <a:extLst>
              <a:ext uri="{FF2B5EF4-FFF2-40B4-BE49-F238E27FC236}">
                <a16:creationId xmlns:a16="http://schemas.microsoft.com/office/drawing/2014/main" id="{28E6E921-6FCC-D1E6-B9A5-B4182F55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 sz="1100">
                <a:latin typeface="Calibri"/>
                <a:ea typeface="Calibri"/>
                <a:cs typeface="Calibri"/>
                <a:sym typeface="Calibri"/>
              </a:rPr>
              <a:t>2350.01.0002220/2020-23 – Natalia </a:t>
            </a:r>
            <a:endParaRPr sz="11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:notes">
            <a:extLst>
              <a:ext uri="{FF2B5EF4-FFF2-40B4-BE49-F238E27FC236}">
                <a16:creationId xmlns:a16="http://schemas.microsoft.com/office/drawing/2014/main" id="{B7145A48-C0D3-6ACF-47CF-31B189666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257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775360"/>
            <a:ext cx="7772400" cy="1225021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  <a:prstGeom prst="rect">
            <a:avLst/>
          </a:prstGeom>
        </p:spPr>
        <p:txBody>
          <a:bodyPr lIns="91421" tIns="45710" rIns="91421" bIns="45710"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79263"/>
            <a:ext cx="4040188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1" y="1279263"/>
            <a:ext cx="4041775" cy="533135"/>
          </a:xfrm>
          <a:prstGeom prst="rect">
            <a:avLst/>
          </a:prstGeom>
        </p:spPr>
        <p:txBody>
          <a:bodyPr lIns="91421" tIns="45710" rIns="91421" bIns="45710" anchor="b"/>
          <a:lstStyle>
            <a:lvl1pPr marL="0" indent="0">
              <a:buNone/>
              <a:defRPr sz="2400" b="1"/>
            </a:lvl1pPr>
            <a:lvl2pPr marL="457109" indent="0">
              <a:buNone/>
              <a:defRPr sz="2000" b="1"/>
            </a:lvl2pPr>
            <a:lvl3pPr marL="914218" indent="0">
              <a:buNone/>
              <a:defRPr sz="1800" b="1"/>
            </a:lvl3pPr>
            <a:lvl4pPr marL="1371325" indent="0">
              <a:buNone/>
              <a:defRPr sz="1600" b="1"/>
            </a:lvl4pPr>
            <a:lvl5pPr marL="1828435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0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7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1" y="1812396"/>
            <a:ext cx="4041775" cy="3292740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2" y="227543"/>
            <a:ext cx="3008313" cy="968375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 lIns="91421" tIns="45710" rIns="91421" bIns="4571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2" y="1195920"/>
            <a:ext cx="3008313" cy="3909219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lIns="91421" tIns="45710" rIns="91421" bIns="45710"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3200"/>
            </a:lvl1pPr>
            <a:lvl2pPr marL="457109" indent="0">
              <a:buNone/>
              <a:defRPr sz="2800"/>
            </a:lvl2pPr>
            <a:lvl3pPr marL="914218" indent="0">
              <a:buNone/>
              <a:defRPr sz="2400"/>
            </a:lvl3pPr>
            <a:lvl4pPr marL="1371325" indent="0">
              <a:buNone/>
              <a:defRPr sz="2000"/>
            </a:lvl4pPr>
            <a:lvl5pPr marL="1828435" indent="0">
              <a:buNone/>
              <a:defRPr sz="2000"/>
            </a:lvl5pPr>
            <a:lvl6pPr marL="2285542" indent="0">
              <a:buNone/>
              <a:defRPr sz="2000"/>
            </a:lvl6pPr>
            <a:lvl7pPr marL="2742650" indent="0">
              <a:buNone/>
              <a:defRPr sz="2000"/>
            </a:lvl7pPr>
            <a:lvl8pPr marL="3199760" indent="0">
              <a:buNone/>
              <a:defRPr sz="2000"/>
            </a:lvl8pPr>
            <a:lvl9pPr marL="365687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 lIns="91421" tIns="45710" rIns="91421" bIns="45710"/>
          <a:lstStyle>
            <a:lvl1pPr marL="0" indent="0">
              <a:buNone/>
              <a:defRPr sz="1400"/>
            </a:lvl1pPr>
            <a:lvl2pPr marL="457109" indent="0">
              <a:buNone/>
              <a:defRPr sz="1200"/>
            </a:lvl2pPr>
            <a:lvl3pPr marL="914218" indent="0">
              <a:buNone/>
              <a:defRPr sz="1000"/>
            </a:lvl3pPr>
            <a:lvl4pPr marL="1371325" indent="0">
              <a:buNone/>
              <a:defRPr sz="900"/>
            </a:lvl4pPr>
            <a:lvl5pPr marL="1828435" indent="0">
              <a:buNone/>
              <a:defRPr sz="900"/>
            </a:lvl5pPr>
            <a:lvl6pPr marL="2285542" indent="0">
              <a:buNone/>
              <a:defRPr sz="900"/>
            </a:lvl6pPr>
            <a:lvl7pPr marL="2742650" indent="0">
              <a:buNone/>
              <a:defRPr sz="900"/>
            </a:lvl7pPr>
            <a:lvl8pPr marL="3199760" indent="0">
              <a:buNone/>
              <a:defRPr sz="900"/>
            </a:lvl8pPr>
            <a:lvl9pPr marL="365687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28870"/>
            <a:ext cx="20574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28870"/>
            <a:ext cx="6019800" cy="4876271"/>
          </a:xfrm>
          <a:prstGeom prst="rect">
            <a:avLst/>
          </a:prstGeom>
        </p:spPr>
        <p:txBody>
          <a:bodyPr vert="eaVert" lIns="91421" tIns="45710" rIns="91421" bIns="45710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19A25EBC-FE77-47EC-94CD-130E57DB1636}" type="datetimeFigureOut">
              <a:rPr lang="pt-BR" smtClean="0"/>
              <a:pPr/>
              <a:t>10/02/2026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5296964"/>
            <a:ext cx="2895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5296964"/>
            <a:ext cx="2133600" cy="304271"/>
          </a:xfrm>
          <a:prstGeom prst="rect">
            <a:avLst/>
          </a:prstGeom>
        </p:spPr>
        <p:txBody>
          <a:bodyPr lIns="91421" tIns="45710" rIns="91421" bIns="45710"/>
          <a:lstStyle/>
          <a:p>
            <a:fld id="{EBD5517E-F1AA-47C8-A27A-CF597EEA9B8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 userDrawn="1"/>
        </p:nvSpPr>
        <p:spPr>
          <a:xfrm>
            <a:off x="143508" y="157200"/>
            <a:ext cx="8856984" cy="54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1" tIns="45710" rIns="91421" bIns="45710" rtlCol="0" anchor="ctr"/>
          <a:lstStyle/>
          <a:p>
            <a:pPr algn="ctr"/>
            <a:endParaRPr lang="pt-BR"/>
          </a:p>
        </p:txBody>
      </p:sp>
      <p:pic>
        <p:nvPicPr>
          <p:cNvPr id="9" name="Imagem 8" descr="simbolo.png"/>
          <p:cNvPicPr>
            <a:picLocks noChangeAspect="1"/>
          </p:cNvPicPr>
          <p:nvPr userDrawn="1"/>
        </p:nvPicPr>
        <p:blipFill>
          <a:blip r:embed="rId13" cstate="print"/>
          <a:srcRect r="50871"/>
          <a:stretch>
            <a:fillRect/>
          </a:stretch>
        </p:blipFill>
        <p:spPr>
          <a:xfrm>
            <a:off x="7850297" y="3937620"/>
            <a:ext cx="1150197" cy="1620180"/>
          </a:xfrm>
          <a:prstGeom prst="rect">
            <a:avLst/>
          </a:prstGeom>
        </p:spPr>
      </p:pic>
      <p:pic>
        <p:nvPicPr>
          <p:cNvPr id="6" name="Imagem 5" descr="Logo_Seplag2019-01.png"/>
          <p:cNvPicPr>
            <a:picLocks noChangeAspect="1"/>
          </p:cNvPicPr>
          <p:nvPr userDrawn="1"/>
        </p:nvPicPr>
        <p:blipFill>
          <a:blip r:embed="rId14" cstate="print"/>
          <a:srcRect l="7244" t="18500" r="8135" b="60080"/>
          <a:stretch>
            <a:fillRect/>
          </a:stretch>
        </p:blipFill>
        <p:spPr>
          <a:xfrm>
            <a:off x="251520" y="5063980"/>
            <a:ext cx="2376264" cy="4252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1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0" indent="-342830" algn="l" defTabSz="91421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01" indent="-285694" algn="l" defTabSz="91421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5" algn="l" defTabSz="91421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5" algn="l" defTabSz="91421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8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5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0" indent="-228555" algn="l" defTabSz="91421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5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70" algn="l" defTabSz="9142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200.198.9.184/QvAJAXZfc/opendoc.htm?document=dcgf%5Cdpo_2026%5Cpainel_ldo_2026.qvw&amp;host=QVS%40vm13525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orcamentoses2026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ORÇAMENTO 2026</a:t>
            </a:r>
            <a:endParaRPr lang="pt-BR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528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TETO DE GASTOS</a:t>
            </a:r>
            <a:endParaRPr lang="pt-BR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30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– ANO BASE 2023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0" y="1279079"/>
            <a:ext cx="8611651" cy="25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88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– ANO BASE 2023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19" y="741245"/>
            <a:ext cx="4746318" cy="428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851148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2026 - Riscos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500657" y="961052"/>
            <a:ext cx="77797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dirty="0"/>
              <a:t>Impacto adicional de aproximadamente R$258 milhões com recomposição a ser concedida  de 5,4%;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26" y="1545827"/>
            <a:ext cx="748769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969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27396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262717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2026 - Riscos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500649" y="880122"/>
            <a:ext cx="77797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/>
              <a:t>Possíveis impactos na folha de pessoal em decorrência de decisões judiciais a favor de servidores:</a:t>
            </a:r>
          </a:p>
          <a:p>
            <a:pPr marL="742859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/>
              <a:t>Pagamento de </a:t>
            </a:r>
            <a:r>
              <a:rPr lang="pt-BR" sz="1400" dirty="0"/>
              <a:t>auxílios durante afastamentos </a:t>
            </a:r>
            <a:r>
              <a:rPr lang="pt-BR" sz="1400" dirty="0" smtClean="0"/>
              <a:t>remunerados</a:t>
            </a:r>
            <a:r>
              <a:rPr lang="pt-BR" sz="1400" dirty="0" smtClean="0"/>
              <a:t>;</a:t>
            </a:r>
          </a:p>
          <a:p>
            <a:pPr marL="742859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/>
              <a:t>Promoção por escolaridade;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200" dirty="0" smtClean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b="1" u="sng" dirty="0"/>
              <a:t>COHAB</a:t>
            </a:r>
            <a:r>
              <a:rPr lang="pt-BR" sz="1400" b="1" u="sng" dirty="0" smtClean="0"/>
              <a:t>: </a:t>
            </a:r>
            <a:r>
              <a:rPr lang="pt-BR" sz="1400" dirty="0" smtClean="0"/>
              <a:t>Perspectiva de aportes </a:t>
            </a:r>
            <a:r>
              <a:rPr lang="pt-BR" sz="1400" dirty="0"/>
              <a:t>na COHAB para cobrir pagamentos de </a:t>
            </a:r>
            <a:r>
              <a:rPr lang="pt-BR" sz="1400" dirty="0" smtClean="0"/>
              <a:t>pessoal, no valor anual de </a:t>
            </a:r>
            <a:r>
              <a:rPr lang="pt-BR" sz="1400" b="1" dirty="0"/>
              <a:t> R$ </a:t>
            </a:r>
            <a:r>
              <a:rPr lang="pt-BR" sz="1400" b="1" dirty="0" smtClean="0"/>
              <a:t>26.265.000,00;</a:t>
            </a:r>
            <a:endParaRPr lang="pt-BR" sz="1400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/>
              <a:t>Suplementação de saldo financeiro de instrumentos jurídicos que não são de repasses federais. Até fevereiro já foram suplementados por volta de R$ 60 </a:t>
            </a:r>
            <a:r>
              <a:rPr lang="pt-BR" sz="1400" dirty="0" smtClean="0"/>
              <a:t>milhões, mas há recursos mais vultuosos nas contas dos convênios. </a:t>
            </a:r>
            <a:endParaRPr lang="pt-BR" sz="1400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17007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27396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262717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TETO 2026 </a:t>
            </a:r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– Possibilidade de redução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00657" y="1044653"/>
            <a:ext cx="77797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dirty="0"/>
              <a:t>Possibilidades de redução:</a:t>
            </a:r>
          </a:p>
          <a:p>
            <a:pPr marL="742859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dirty="0" smtClean="0"/>
              <a:t>R$125 </a:t>
            </a:r>
            <a:r>
              <a:rPr lang="pt-BR" sz="1600" dirty="0"/>
              <a:t>milhões se houver especificação de pagamentos utilizando elemento item de sentença judicial na folha de pessoal; A estimativa é que por volta </a:t>
            </a:r>
            <a:r>
              <a:rPr lang="pt-BR" sz="1600" dirty="0" smtClean="0"/>
              <a:t>de R$250 </a:t>
            </a:r>
            <a:r>
              <a:rPr lang="pt-BR" sz="1600" dirty="0"/>
              <a:t>milhões foram executados em 2025 devido a sentenças judiciais. </a:t>
            </a:r>
          </a:p>
          <a:p>
            <a:pPr marL="742859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dirty="0" smtClean="0"/>
              <a:t>R$534.877.242,00 </a:t>
            </a:r>
            <a:r>
              <a:rPr lang="pt-BR" sz="1600" dirty="0"/>
              <a:t>milhões estão previstos para pagamentos de verba retidas. O número pode ser ajustado para a realidade de fluxo e decisão governamental;</a:t>
            </a:r>
          </a:p>
        </p:txBody>
      </p:sp>
    </p:spTree>
    <p:extLst>
      <p:ext uri="{BB962C8B-B14F-4D97-AF65-F5344CB8AC3E}">
        <p14:creationId xmlns:p14="http://schemas.microsoft.com/office/powerpoint/2010/main" val="2238050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FLUXO PROPAG</a:t>
            </a:r>
            <a:endParaRPr lang="pt-BR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69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27396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262717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FLUXO PROPAG – DESESTATIZAÇÃO COPASA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62F94F-F8E2-7AFA-DB2A-4CE847098729}"/>
              </a:ext>
            </a:extLst>
          </p:cNvPr>
          <p:cNvSpPr txBox="1"/>
          <p:nvPr/>
        </p:nvSpPr>
        <p:spPr>
          <a:xfrm>
            <a:off x="729128" y="888755"/>
            <a:ext cx="48328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 Estadual nº 25.664, 22 de dezembro de 2025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042F741-CDE6-34E6-BFAA-7A1A8EF9331A}"/>
              </a:ext>
            </a:extLst>
          </p:cNvPr>
          <p:cNvSpPr txBox="1"/>
          <p:nvPr/>
        </p:nvSpPr>
        <p:spPr>
          <a:xfrm>
            <a:off x="651404" y="1349925"/>
            <a:ext cx="74085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pt-BR" sz="135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Art. 8º – Os recursos financeiros obtidos com as operações a que se refere o art. 2º serão </a:t>
            </a:r>
            <a:r>
              <a:rPr lang="pt-BR" sz="135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exclusivamente utilizados para a amortização da dívida ou para o cumprimento das demais obrigações do Estado no âmbito do Programa de Pleno Pagamento de Dívidas dos Estados – </a:t>
            </a:r>
            <a:r>
              <a:rPr lang="pt-BR" sz="135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</a:t>
            </a:r>
            <a:r>
              <a:rPr lang="pt-BR" sz="135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ressalvada a destinação de parte desses recursos para fundo estadual de saneamento básico a ser criado por lei</a:t>
            </a:r>
            <a:r>
              <a:rPr lang="pt-BR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.”</a:t>
            </a:r>
          </a:p>
          <a:p>
            <a:pPr algn="just"/>
            <a:endParaRPr lang="pt-BR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 Estadual n.º 25.668, de 23 de dezembro de 2025 </a:t>
            </a:r>
          </a:p>
          <a:p>
            <a:pPr algn="just"/>
            <a:endParaRPr lang="pt-BR" sz="1500" b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350" dirty="0"/>
              <a:t>“Art. 23 - São recursos do </a:t>
            </a:r>
            <a:r>
              <a:rPr lang="pt-BR" sz="1350" dirty="0" err="1"/>
              <a:t>Funesb</a:t>
            </a:r>
            <a:r>
              <a:rPr lang="pt-BR" sz="1350" dirty="0"/>
              <a:t>-MG:</a:t>
            </a:r>
          </a:p>
          <a:p>
            <a:pPr algn="just"/>
            <a:r>
              <a:rPr lang="pt-BR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(...)</a:t>
            </a:r>
          </a:p>
          <a:p>
            <a:pPr algn="just"/>
            <a:r>
              <a:rPr lang="pt-BR" sz="1350" dirty="0"/>
              <a:t>VIII - recursos orçamentários, em montante correspondente a </a:t>
            </a:r>
            <a:r>
              <a:rPr lang="pt-BR" sz="1350" b="1" dirty="0"/>
              <a:t>5% (cinco por cento) </a:t>
            </a:r>
            <a:r>
              <a:rPr lang="pt-BR" sz="1350" dirty="0"/>
              <a:t>do valor líquido obtido pelo Estado na hipótese de desestatização da Companhia de Saneamento de Minas Gerais - Copasa;”</a:t>
            </a:r>
            <a:endParaRPr lang="pt-BR" sz="1350" b="1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309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27396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262717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FLUXO PROPAG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27BE26-B4B7-D519-E262-120E597C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93" y="1073749"/>
            <a:ext cx="4466415" cy="356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61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E917-322F-5C63-16E2-4F3DB3486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B52129C4-F409-DD2C-40B5-0428B476CBD8}"/>
              </a:ext>
            </a:extLst>
          </p:cNvPr>
          <p:cNvSpPr/>
          <p:nvPr/>
        </p:nvSpPr>
        <p:spPr>
          <a:xfrm>
            <a:off x="0" y="1777380"/>
            <a:ext cx="7116301" cy="13218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822FEF6-3761-4EF5-F058-B5136913723E}"/>
              </a:ext>
            </a:extLst>
          </p:cNvPr>
          <p:cNvSpPr txBox="1"/>
          <p:nvPr/>
        </p:nvSpPr>
        <p:spPr>
          <a:xfrm>
            <a:off x="90571" y="2036654"/>
            <a:ext cx="7025729" cy="984853"/>
          </a:xfrm>
          <a:prstGeom prst="rect">
            <a:avLst/>
          </a:prstGeom>
          <a:noFill/>
        </p:spPr>
        <p:txBody>
          <a:bodyPr wrap="square" lIns="91411" tIns="45704" rIns="91411" bIns="45704" rtlCol="0" anchor="t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Arial"/>
                <a:cs typeface="Arial"/>
              </a:rPr>
              <a:t>Propag – Investimentos</a:t>
            </a:r>
          </a:p>
          <a:p>
            <a:endParaRPr lang="pt-BR" sz="1000" b="1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pt-B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Demanda extra - PMMG</a:t>
            </a:r>
            <a:endParaRPr lang="pt-BR" sz="16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76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D643-6695-8177-3E2F-43FBED88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D293D38-4C0F-C71B-A094-43CF3F6830A1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3151EC-CBFE-E9AC-7636-19EF7394C1B3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Propag (Investimentos) – Demanda extra PMMG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0A8BF3-D83C-C17F-995C-6AF7B5FB33C7}"/>
              </a:ext>
            </a:extLst>
          </p:cNvPr>
          <p:cNvSpPr txBox="1"/>
          <p:nvPr/>
        </p:nvSpPr>
        <p:spPr>
          <a:xfrm>
            <a:off x="215517" y="788245"/>
            <a:ext cx="8660856" cy="14003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dirty="0">
                <a:ea typeface="+mn-lt"/>
                <a:cs typeface="+mn-lt"/>
              </a:rPr>
              <a:t>PMMG apresentou diversas intervenções totalizando </a:t>
            </a:r>
            <a:r>
              <a:rPr lang="pt-BR" sz="1500" b="1" dirty="0">
                <a:ea typeface="+mn-lt"/>
                <a:cs typeface="+mn-lt"/>
              </a:rPr>
              <a:t>R$450,5 milhões</a:t>
            </a:r>
            <a:r>
              <a:rPr lang="pt-BR" sz="1500" dirty="0">
                <a:ea typeface="+mn-lt"/>
                <a:cs typeface="+mn-lt"/>
              </a:rPr>
              <a:t> para serem executadas com recursos do Propag.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pt-BR" sz="1500" b="1" dirty="0">
                <a:ea typeface="+mn-lt"/>
                <a:cs typeface="+mn-lt"/>
              </a:rPr>
              <a:t>Entregas até 30/06</a:t>
            </a:r>
            <a:r>
              <a:rPr lang="pt-BR" sz="1500" dirty="0">
                <a:ea typeface="+mn-lt"/>
                <a:cs typeface="+mn-lt"/>
              </a:rPr>
              <a:t>: Somente uma parcela das ações pode ser entregue até 30/06 (período eleitoral).</a:t>
            </a:r>
            <a:br>
              <a:rPr lang="pt-BR" sz="1500" dirty="0">
                <a:ea typeface="+mn-lt"/>
                <a:cs typeface="+mn-lt"/>
              </a:rPr>
            </a:br>
            <a:r>
              <a:rPr lang="pt-BR" sz="1500" dirty="0">
                <a:ea typeface="+mn-lt"/>
                <a:cs typeface="+mn-lt"/>
              </a:rPr>
              <a:t>Para garantir a entrega até a data, </a:t>
            </a:r>
            <a:r>
              <a:rPr lang="pt-BR" sz="1500" b="1" u="sng" dirty="0">
                <a:ea typeface="+mn-lt"/>
                <a:cs typeface="+mn-lt"/>
              </a:rPr>
              <a:t>é preciso que o recurso seja liberado até 27/02/2026.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pt-BR" sz="1500" dirty="0">
              <a:ea typeface="+mn-lt"/>
              <a:cs typeface="+mn-l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D7DE0A-F1A7-D7AE-A3F8-953BD2DE4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29" y="2087417"/>
            <a:ext cx="6352542" cy="252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7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7971-600A-6704-CE03-B15A129A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F52BA850-B9E0-5711-4C03-48FABF3CE0B1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CFC8EA-E530-45B8-4354-76B1C6B991DE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Propag (Investimentos) – Demanda extra PMMG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7F2281-E86A-9EDA-0C0B-97A9E9A1E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6" y="769273"/>
            <a:ext cx="6881091" cy="413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2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E4691-3699-56FA-AF16-EA88CEA6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35F0C9C-6AC0-5B3E-39A7-B0045CAFE8BF}"/>
              </a:ext>
            </a:extLst>
          </p:cNvPr>
          <p:cNvCxnSpPr/>
          <p:nvPr/>
        </p:nvCxnSpPr>
        <p:spPr>
          <a:xfrm>
            <a:off x="215517" y="697260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E6BF70-CE08-908D-DE9D-6794EAFB6B9B}"/>
              </a:ext>
            </a:extLst>
          </p:cNvPr>
          <p:cNvSpPr txBox="1"/>
          <p:nvPr/>
        </p:nvSpPr>
        <p:spPr>
          <a:xfrm>
            <a:off x="251520" y="286698"/>
            <a:ext cx="8640960" cy="338550"/>
          </a:xfrm>
          <a:prstGeom prst="rect">
            <a:avLst/>
          </a:prstGeom>
          <a:noFill/>
        </p:spPr>
        <p:txBody>
          <a:bodyPr wrap="square" lIns="91436" tIns="45718" rIns="91436" bIns="45718" rtlCol="0" anchor="t">
            <a:spAutoFit/>
          </a:bodyPr>
          <a:lstStyle/>
          <a:p>
            <a:pPr defTabSz="1097236"/>
            <a:r>
              <a:rPr lang="pt-BR" sz="1600" b="1" dirty="0">
                <a:solidFill>
                  <a:srgbClr val="C00000"/>
                </a:solidFill>
                <a:latin typeface="Arial"/>
                <a:cs typeface="Arial"/>
              </a:rPr>
              <a:t>Propag (Investimentos) – Demanda extra PMMG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22EA7A-9F77-E508-2F41-F395624D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26" y="804778"/>
            <a:ext cx="7139709" cy="42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59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1077186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DPO 2026</a:t>
            </a:r>
          </a:p>
          <a:p>
            <a:endParaRPr lang="pt-BR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56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5D0E-12AB-618E-FF44-ACB8D96F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DPO 2026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5" y="1026623"/>
            <a:ext cx="8007955" cy="3051031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98333" y="695260"/>
            <a:ext cx="8554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just">
              <a:spcAft>
                <a:spcPts val="400"/>
              </a:spcAft>
              <a:defRPr sz="1600">
                <a:ea typeface="Segoe UI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/>
              <a:t>Proposta de contingenciamento da base discricionária   </a:t>
            </a:r>
            <a:endParaRPr lang="pt-BR" sz="14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2835664" y="4506013"/>
            <a:ext cx="3486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hlinkClick r:id="rId4"/>
              </a:rPr>
              <a:t>Painel com o detalhamento por UO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458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1077186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CONTRAPARTIDA SEINFRA</a:t>
            </a:r>
          </a:p>
          <a:p>
            <a:endParaRPr lang="pt-BR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62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101" name="Google Shape;101;p14">
            <a:extLst>
              <a:ext uri="{FF2B5EF4-FFF2-40B4-BE49-F238E27FC236}">
                <a16:creationId xmlns:a16="http://schemas.microsoft.com/office/drawing/2014/main" id="{94D65035-B284-B663-C857-8CC5457D2B0B}"/>
              </a:ext>
            </a:extLst>
          </p:cNvPr>
          <p:cNvCxnSpPr/>
          <p:nvPr/>
        </p:nvCxnSpPr>
        <p:spPr>
          <a:xfrm>
            <a:off x="338465" y="458276"/>
            <a:ext cx="8021782" cy="0"/>
          </a:xfrm>
          <a:prstGeom prst="straightConnector1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21DF848C-A754-E20B-ED89-78BABA71EBEA}"/>
              </a:ext>
            </a:extLst>
          </p:cNvPr>
          <p:cNvSpPr txBox="1"/>
          <p:nvPr/>
        </p:nvSpPr>
        <p:spPr>
          <a:xfrm>
            <a:off x="247025" y="112058"/>
            <a:ext cx="8021782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Convênios de Entrada</a:t>
            </a:r>
            <a:endParaRPr sz="13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5F02B6-82CE-3496-7486-311F28926402}"/>
              </a:ext>
            </a:extLst>
          </p:cNvPr>
          <p:cNvSpPr/>
          <p:nvPr/>
        </p:nvSpPr>
        <p:spPr>
          <a:xfrm>
            <a:off x="446530" y="527538"/>
            <a:ext cx="8464714" cy="4616648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pt-BR" sz="1350" dirty="0">
                <a:latin typeface="Calibri"/>
                <a:cs typeface="Calibri"/>
              </a:rPr>
              <a:t>A </a:t>
            </a:r>
            <a:r>
              <a:rPr lang="pt-BR" sz="1350" b="1" dirty="0">
                <a:latin typeface="Calibri"/>
                <a:cs typeface="Calibri"/>
              </a:rPr>
              <a:t> SEINFRA </a:t>
            </a:r>
            <a:r>
              <a:rPr lang="pt-BR" sz="1350" dirty="0" smtClean="0">
                <a:latin typeface="Calibri"/>
              </a:rPr>
              <a:t>firmou instrumento</a:t>
            </a:r>
            <a:r>
              <a:rPr lang="pt-BR" sz="1350" dirty="0">
                <a:latin typeface="Calibri"/>
              </a:rPr>
              <a:t> </a:t>
            </a:r>
            <a:r>
              <a:rPr lang="pt-BR" sz="1350" dirty="0" smtClean="0">
                <a:latin typeface="Calibri"/>
              </a:rPr>
              <a:t> junto ao </a:t>
            </a:r>
            <a:r>
              <a:rPr lang="pt-BR" sz="1350" dirty="0">
                <a:latin typeface="Calibri"/>
              </a:rPr>
              <a:t>Ministério da Integração e do Desenvolvimento Regional, referente ao processo SEI nº </a:t>
            </a:r>
            <a:r>
              <a:rPr lang="pt-BR" sz="1350" dirty="0" smtClean="0">
                <a:latin typeface="Calibri"/>
              </a:rPr>
              <a:t>1130.01.0003615/2023-93 para </a:t>
            </a:r>
            <a:r>
              <a:rPr lang="pt-BR" sz="1350" dirty="0" smtClean="0"/>
              <a:t>manutenção </a:t>
            </a:r>
            <a:r>
              <a:rPr lang="pt-BR" sz="1350" dirty="0"/>
              <a:t>e pavimentação de estradas vicinais em Minas </a:t>
            </a:r>
            <a:r>
              <a:rPr lang="pt-BR" sz="1350" dirty="0" smtClean="0"/>
              <a:t>Gerais:</a:t>
            </a:r>
          </a:p>
          <a:p>
            <a:endParaRPr lang="pt-BR" sz="135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20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concedente </a:t>
            </a:r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atual: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R$ 19.153.735,00 (97,91%)</a:t>
            </a:r>
            <a:endParaRPr lang="pt-BR" sz="1600" dirty="0">
              <a:latin typeface="Arial" panose="020B0604020202020204" pitchFamily="34" charset="0"/>
            </a:endParaRP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contrapartida atual: 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R$ 408.163,27 (2,09%)</a:t>
            </a:r>
            <a:endParaRPr lang="pt-BR" sz="1600" dirty="0">
              <a:latin typeface="Arial" panose="020B0604020202020204" pitchFamily="34" charset="0"/>
            </a:endParaRP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total atual: 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R$ 19.561.898,27 (100%)</a:t>
            </a:r>
            <a:endParaRPr lang="pt-BR" sz="1600" dirty="0">
              <a:latin typeface="Arial" panose="020B0604020202020204" pitchFamily="34" charset="0"/>
            </a:endParaRPr>
          </a:p>
          <a:p>
            <a:endParaRPr lang="pt-BR" sz="1350" dirty="0" smtClean="0"/>
          </a:p>
          <a:p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Em </a:t>
            </a:r>
            <a:r>
              <a:rPr lang="pt-BR" sz="1400" b="1" dirty="0">
                <a:latin typeface="Calibri" panose="020F0502020204030204" pitchFamily="34" charset="0"/>
                <a:cs typeface="Calibri" panose="020F0502020204030204" pitchFamily="34" charset="0"/>
              </a:rPr>
              <a:t>maio de 2025 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foi solicitado atualização do valor da contrapartida para dar andamento à pavimentação do trecho </a:t>
            </a:r>
            <a:r>
              <a:rPr lang="pt-BR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Guapé</a:t>
            </a:r>
            <a:r>
              <a:rPr lang="pt-BR" sz="14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pt-BR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Pimenta. </a:t>
            </a:r>
          </a:p>
          <a:p>
            <a:endParaRPr lang="pt-BR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fontAlgn="ctr"/>
            <a:r>
              <a:rPr lang="pt-BR" sz="120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</a:t>
            </a:r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concedente atual: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R$ 19.153.735,00 (48,92%)</a:t>
            </a:r>
            <a:endParaRPr lang="pt-BR" sz="1600" dirty="0">
              <a:latin typeface="Arial" panose="020B0604020202020204" pitchFamily="34" charset="0"/>
            </a:endParaRP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contrapartida atual: 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R$ 19.996.662,02 (51,08%)</a:t>
            </a:r>
            <a:endParaRPr lang="pt-BR" sz="1600" dirty="0">
              <a:latin typeface="Arial" panose="020B0604020202020204" pitchFamily="34" charset="0"/>
            </a:endParaRP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total atual: </a:t>
            </a:r>
            <a:r>
              <a:rPr lang="pt-BR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R$ 19.561.898,27 (100</a:t>
            </a:r>
            <a:r>
              <a:rPr lang="pt-BR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%)</a:t>
            </a:r>
          </a:p>
          <a:p>
            <a:pPr fontAlgn="ctr"/>
            <a:endParaRPr lang="pt-BR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pt-BR" sz="1350" dirty="0">
                <a:latin typeface="Calibri" panose="020F0502020204030204" pitchFamily="34" charset="0"/>
                <a:cs typeface="Calibri" panose="020F0502020204030204" pitchFamily="34" charset="0"/>
              </a:rPr>
              <a:t>Por fim, em janeiro de 2026 a SEINFRA solicita nova atualização da contrapartida </a:t>
            </a:r>
            <a:r>
              <a:rPr lang="pt-BR" sz="1350" dirty="0"/>
              <a:t>em razão de decisão governamental relacionada à priorização de ações estratégicas que tornou-se necessária a alteração da meta física do contrato, substituindo-se o trecho originalmente pactuado (trecho Pimenta – </a:t>
            </a:r>
            <a:r>
              <a:rPr lang="pt-BR" sz="1350" dirty="0" err="1"/>
              <a:t>Entr</a:t>
            </a:r>
            <a:r>
              <a:rPr lang="pt-BR" sz="1350" dirty="0"/>
              <a:t>. BR-264 </a:t>
            </a:r>
            <a:r>
              <a:rPr lang="pt-BR" sz="1350" dirty="0" err="1"/>
              <a:t>Guapé</a:t>
            </a:r>
            <a:r>
              <a:rPr lang="pt-BR" sz="1350" dirty="0"/>
              <a:t>) pelo trecho </a:t>
            </a:r>
            <a:r>
              <a:rPr lang="pt-BR" sz="1350" dirty="0" err="1"/>
              <a:t>Ibertioga</a:t>
            </a:r>
            <a:r>
              <a:rPr lang="pt-BR" sz="1350" dirty="0"/>
              <a:t> – Piedade do Rio Grande. </a:t>
            </a:r>
            <a:r>
              <a:rPr lang="pt-BR" sz="1350" dirty="0">
                <a:ea typeface="Calibri"/>
                <a:cs typeface="Calibri"/>
              </a:rPr>
              <a:t> </a:t>
            </a:r>
            <a:endParaRPr lang="pt-BR" sz="1350" dirty="0" smtClean="0">
              <a:ea typeface="Calibri"/>
              <a:cs typeface="Calibri"/>
            </a:endParaRPr>
          </a:p>
          <a:p>
            <a:pPr algn="just"/>
            <a:endParaRPr lang="pt-BR" sz="1350" dirty="0"/>
          </a:p>
          <a:p>
            <a:pPr fontAlgn="ctr"/>
            <a:r>
              <a:rPr lang="pt-BR" sz="120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</a:t>
            </a:r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concedente atualizado: R$ 19.153.735,00 (32,23%)</a:t>
            </a: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contrapartida atualizado: R$ 40.273.020,13 (67,77%)</a:t>
            </a:r>
          </a:p>
          <a:p>
            <a:pPr fontAlgn="ctr"/>
            <a:r>
              <a:rPr lang="pt-BR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total atualizado: R$ 59.426.755,13 (100%)</a:t>
            </a:r>
          </a:p>
          <a:p>
            <a:pPr fontAlgn="ctr"/>
            <a:endParaRPr lang="pt-BR" sz="12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122951"/>
              </p:ext>
            </p:extLst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15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1777380"/>
            <a:ext cx="7092280" cy="1368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4" rIns="91411" bIns="45704"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2758" y="2169084"/>
            <a:ext cx="6120680" cy="584743"/>
          </a:xfrm>
          <a:prstGeom prst="rect">
            <a:avLst/>
          </a:prstGeom>
          <a:noFill/>
        </p:spPr>
        <p:txBody>
          <a:bodyPr wrap="square" lIns="91411" tIns="45704" rIns="91411" bIns="45704" rtlCol="0">
            <a:spAutoFit/>
          </a:bodyPr>
          <a:lstStyle/>
          <a:p>
            <a:r>
              <a:rPr lang="pt-BR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SAÚDE E EDUCAÇÃO</a:t>
            </a:r>
          </a:p>
        </p:txBody>
      </p:sp>
    </p:spTree>
    <p:extLst>
      <p:ext uri="{BB962C8B-B14F-4D97-AF65-F5344CB8AC3E}">
        <p14:creationId xmlns:p14="http://schemas.microsoft.com/office/powerpoint/2010/main" val="288649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SAÚDE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2" name="Objeto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611624"/>
              </p:ext>
            </p:extLst>
          </p:nvPr>
        </p:nvGraphicFramePr>
        <p:xfrm>
          <a:off x="338465" y="1567326"/>
          <a:ext cx="8503769" cy="2590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lanilha" r:id="rId4" imgW="6410385" imgH="1952611" progId="Excel.Sheet.8">
                  <p:embed/>
                </p:oleObj>
              </mc:Choice>
              <mc:Fallback>
                <p:oleObj name="Planilha" r:id="rId4" imgW="6410385" imgH="1952611" progId="Excel.Sheet.8">
                  <p:embed/>
                  <p:pic>
                    <p:nvPicPr>
                      <p:cNvPr id="11" name="Objeto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465" y="1567326"/>
                        <a:ext cx="8503769" cy="2590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7650959" y="867681"/>
            <a:ext cx="12121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/>
              <a:t>Em Milhões de R$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99052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SAÚDE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2692901" y="4464447"/>
            <a:ext cx="3843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smtClean="0"/>
              <a:t>Detalhamento</a:t>
            </a:r>
          </a:p>
          <a:p>
            <a:r>
              <a:rPr lang="pt-BR" dirty="0" smtClean="0">
                <a:hlinkClick r:id="rId3"/>
              </a:rPr>
              <a:t>https</a:t>
            </a:r>
            <a:r>
              <a:rPr lang="pt-BR" dirty="0">
                <a:hlinkClick r:id="rId3"/>
              </a:rPr>
              <a:t>://tinyurl.com/orcamentoses2026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10" y="769210"/>
            <a:ext cx="7776328" cy="36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5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EDUCAÇÃO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3" name="Objeto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74991"/>
              </p:ext>
            </p:extLst>
          </p:nvPr>
        </p:nvGraphicFramePr>
        <p:xfrm>
          <a:off x="338465" y="1103111"/>
          <a:ext cx="8456269" cy="3222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Planilha" r:id="rId4" imgW="6048227" imgH="2305192" progId="Excel.Sheet.8">
                  <p:embed/>
                </p:oleObj>
              </mc:Choice>
              <mc:Fallback>
                <p:oleObj name="Planilha" r:id="rId4" imgW="6048227" imgH="2305192" progId="Excel.Sheet.8">
                  <p:embed/>
                  <p:pic>
                    <p:nvPicPr>
                      <p:cNvPr id="4" name="Objeto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465" y="1103111"/>
                        <a:ext cx="8456269" cy="32227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aixaDeTexto 13"/>
          <p:cNvSpPr txBox="1"/>
          <p:nvPr/>
        </p:nvSpPr>
        <p:spPr>
          <a:xfrm>
            <a:off x="7650959" y="867681"/>
            <a:ext cx="12121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 smtClean="0"/>
              <a:t>Em Milhões de R$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0558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EDUCAÇÃO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9" y="1079787"/>
            <a:ext cx="8156701" cy="27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3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EDUCAÇÃO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9" y="1086606"/>
            <a:ext cx="8156701" cy="275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2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EDUCAÇÃO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9" y="858410"/>
            <a:ext cx="8156701" cy="33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3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E486716-17A0-4473-8934-816A8BA63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9692559B-5A1C-80FB-34F6-D8C7E4C1F4D9}"/>
              </a:ext>
            </a:extLst>
          </p:cNvPr>
          <p:cNvSpPr txBox="1"/>
          <p:nvPr/>
        </p:nvSpPr>
        <p:spPr>
          <a:xfrm>
            <a:off x="1705553" y="804065"/>
            <a:ext cx="6172200" cy="38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endParaRPr sz="2160" b="1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55FFC5E5-34CD-4FC6-D351-FD5E7C4A2E01}"/>
              </a:ext>
            </a:extLst>
          </p:cNvPr>
          <p:cNvSpPr/>
          <p:nvPr/>
        </p:nvSpPr>
        <p:spPr>
          <a:xfrm>
            <a:off x="561110" y="1266591"/>
            <a:ext cx="7576493" cy="355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192882" indent="-124302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pt-BR" sz="10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</a:t>
            </a:r>
            <a:endParaRPr sz="1350"/>
          </a:p>
          <a:p>
            <a:pPr marL="231458" lvl="1" indent="-162877" algn="just">
              <a:buClr>
                <a:schemeClr val="dk1"/>
              </a:buClr>
              <a:buSzPts val="1440"/>
            </a:pP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7184A79F-29B4-BA5F-9E51-DE052D1B91AC}"/>
              </a:ext>
            </a:extLst>
          </p:cNvPr>
          <p:cNvSpPr/>
          <p:nvPr/>
        </p:nvSpPr>
        <p:spPr>
          <a:xfrm>
            <a:off x="561110" y="921230"/>
            <a:ext cx="8021782" cy="382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94" tIns="41138" rIns="82294" bIns="41138" anchor="t" anchorCtr="0">
            <a:noAutofit/>
          </a:bodyPr>
          <a:lstStyle/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975" dirty="0">
              <a:latin typeface="Calibri"/>
              <a:ea typeface="Calibri"/>
            </a:endParaRPr>
          </a:p>
          <a:p>
            <a:pPr algn="just">
              <a:buSzPts val="1650"/>
            </a:pPr>
            <a:endParaRPr lang="pt-BR" sz="1350" dirty="0">
              <a:latin typeface="Calibri"/>
            </a:endParaRPr>
          </a:p>
          <a:p>
            <a:pPr lvl="2" algn="just">
              <a:buSzPts val="1650"/>
            </a:pPr>
            <a:endParaRPr lang="pt-BR" sz="9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7AF9474-FCE9-2E25-C9EC-62DE5C891A2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-1351323" y="5888599"/>
          <a:ext cx="7933369" cy="6355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8473">
                  <a:extLst>
                    <a:ext uri="{9D8B030D-6E8A-4147-A177-3AD203B41FA5}">
                      <a16:colId xmlns:a16="http://schemas.microsoft.com/office/drawing/2014/main" val="1582296107"/>
                    </a:ext>
                  </a:extLst>
                </a:gridCol>
                <a:gridCol w="3414896">
                  <a:extLst>
                    <a:ext uri="{9D8B030D-6E8A-4147-A177-3AD203B41FA5}">
                      <a16:colId xmlns:a16="http://schemas.microsoft.com/office/drawing/2014/main" val="2123218003"/>
                    </a:ext>
                  </a:extLst>
                </a:gridCol>
              </a:tblGrid>
              <a:tr h="249382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</a:t>
                      </a:r>
                      <a:r>
                        <a:rPr lang="pt-B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(48,92%)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concedente atualizado: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R$ 19.153.735,00 (32,23%)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942934"/>
                  </a:ext>
                </a:extLst>
              </a:tr>
              <a:tr h="200423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R$ 19.996.662,02 (51,08%)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contrapartida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R$ 40.273.020,13 (67,77%)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65920"/>
                  </a:ext>
                </a:extLst>
              </a:tr>
              <a:tr h="185696"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R$ 19.561.898,27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total atualizado: </a:t>
                      </a:r>
                      <a:r>
                        <a:rPr lang="pt-BR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R$ 59.426.755,13 (100%)</a:t>
                      </a:r>
                      <a:endParaRPr lang="pt-BR" sz="11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263567"/>
                  </a:ext>
                </a:extLst>
              </a:tr>
            </a:tbl>
          </a:graphicData>
        </a:graphic>
      </p:graphicFrame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5A49652-5C3B-4496-BEB1-0E5CDC5F9E0B}"/>
              </a:ext>
            </a:extLst>
          </p:cNvPr>
          <p:cNvCxnSpPr/>
          <p:nvPr/>
        </p:nvCxnSpPr>
        <p:spPr>
          <a:xfrm>
            <a:off x="222190" y="652045"/>
            <a:ext cx="871296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22190" y="4027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E40F52-366A-060E-8AB4-51B058A609CB}"/>
              </a:ext>
            </a:extLst>
          </p:cNvPr>
          <p:cNvSpPr txBox="1"/>
          <p:nvPr/>
        </p:nvSpPr>
        <p:spPr>
          <a:xfrm>
            <a:off x="294198" y="313503"/>
            <a:ext cx="8640960" cy="338542"/>
          </a:xfrm>
          <a:prstGeom prst="rect">
            <a:avLst/>
          </a:prstGeom>
          <a:noFill/>
        </p:spPr>
        <p:txBody>
          <a:bodyPr wrap="square" lIns="91428" tIns="45714" rIns="91428" bIns="45714" rtlCol="0" anchor="t">
            <a:spAutoFit/>
          </a:bodyPr>
          <a:lstStyle/>
          <a:p>
            <a:r>
              <a:rPr lang="pt-BR" sz="1600" b="1" dirty="0" smtClean="0">
                <a:solidFill>
                  <a:srgbClr val="C00000"/>
                </a:solidFill>
                <a:latin typeface="Arial"/>
                <a:cs typeface="Arial"/>
              </a:rPr>
              <a:t>EDUCAÇÃO </a:t>
            </a:r>
            <a:endParaRPr lang="pt-BR" sz="16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91" y="990587"/>
            <a:ext cx="8156701" cy="30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8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8D58FADB61F04EBBB4F355C06EFBED" ma:contentTypeVersion="19" ma:contentTypeDescription="Crie um novo documento." ma:contentTypeScope="" ma:versionID="b1e0f6055e0e9a4b9e75d6c71ee7de91">
  <xsd:schema xmlns:xsd="http://www.w3.org/2001/XMLSchema" xmlns:xs="http://www.w3.org/2001/XMLSchema" xmlns:p="http://schemas.microsoft.com/office/2006/metadata/properties" xmlns:ns2="6f4338ef-addb-4c87-aefe-1895241b335f" xmlns:ns3="b91e7f20-fe0a-487d-91a9-605ac1c64acf" targetNamespace="http://schemas.microsoft.com/office/2006/metadata/properties" ma:root="true" ma:fieldsID="b43930f3490e4d4da1ab3f8da7df6f51" ns2:_="" ns3:_="">
    <xsd:import namespace="6f4338ef-addb-4c87-aefe-1895241b335f"/>
    <xsd:import namespace="b91e7f20-fe0a-487d-91a9-605ac1c64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338ef-addb-4c87-aefe-1895241b3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917d32f3-4fa4-4f5b-a8d0-62dbd3d265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e7f20-fe0a-487d-91a9-605ac1c64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8708050-f001-4dcd-9fe1-c60e835c33fc}" ma:internalName="TaxCatchAll" ma:showField="CatchAllData" ma:web="b91e7f20-fe0a-487d-91a9-605ac1c64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91e7f20-fe0a-487d-91a9-605ac1c64acf" xsi:nil="true"/>
    <lcf76f155ced4ddcb4097134ff3c332f xmlns="6f4338ef-addb-4c87-aefe-1895241b335f">
      <Terms xmlns="http://schemas.microsoft.com/office/infopath/2007/PartnerControls"/>
    </lcf76f155ced4ddcb4097134ff3c332f>
    <SharedWithUsers xmlns="b91e7f20-fe0a-487d-91a9-605ac1c64acf">
      <UserInfo>
        <DisplayName>Túlio de Souza Gonzaga (SEPLAG)</DisplayName>
        <AccountId>19</AccountId>
        <AccountType/>
      </UserInfo>
      <UserInfo>
        <DisplayName>Jussara Guiomar F. Vilaça de Pardo</DisplayName>
        <AccountId>88</AccountId>
        <AccountType/>
      </UserInfo>
      <UserInfo>
        <DisplayName>Thomás Pereira Sá de Carvalho</DisplayName>
        <AccountId>83</AccountId>
        <AccountType/>
      </UserInfo>
      <UserInfo>
        <DisplayName>Cecilia Haddad Medeiros (SEPLAG)</DisplayName>
        <AccountId>200</AccountId>
        <AccountType/>
      </UserInfo>
      <UserInfo>
        <DisplayName>Mariana Sousa Lopes (SEPLAG)</DisplayName>
        <AccountId>85</AccountId>
        <AccountType/>
      </UserInfo>
      <UserInfo>
        <DisplayName>Barbara Mendes de Castro (SEPLAG)</DisplayName>
        <AccountId>84</AccountId>
        <AccountType/>
      </UserInfo>
      <UserInfo>
        <DisplayName>Bruno Henrique de Oliveira Rosa (SEPLAG)</DisplayName>
        <AccountId>82</AccountId>
        <AccountType/>
      </UserInfo>
      <UserInfo>
        <DisplayName>Andrea Regina Do Carmo (SEPLAG)</DisplayName>
        <AccountId>90</AccountId>
        <AccountType/>
      </UserInfo>
      <UserInfo>
        <DisplayName>Lucas José Oliveira (SEPLAG)</DisplayName>
        <AccountId>87</AccountId>
        <AccountType/>
      </UserInfo>
      <UserInfo>
        <DisplayName>Daniel Fernandes Sartori Alves</DisplayName>
        <AccountId>89</AccountId>
        <AccountType/>
      </UserInfo>
      <UserInfo>
        <DisplayName>Luciana Muller Souza Coelho (SEPLAG)</DisplayName>
        <AccountId>205</AccountId>
        <AccountType/>
      </UserInfo>
      <UserInfo>
        <DisplayName>Pedro Lucas Fonseca Braga (SEPLAG)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E826907-9001-4186-98D1-FDF9C8C1C8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5FFBBC-3FD4-4B7B-819F-D5FFA64AD3C5}">
  <ds:schemaRefs>
    <ds:schemaRef ds:uri="6f4338ef-addb-4c87-aefe-1895241b335f"/>
    <ds:schemaRef ds:uri="b91e7f20-fe0a-487d-91a9-605ac1c64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A50F9-6794-4FCE-A895-BD27BAA9DCF2}">
  <ds:schemaRefs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b91e7f20-fe0a-487d-91a9-605ac1c64acf"/>
    <ds:schemaRef ds:uri="6f4338ef-addb-4c87-aefe-1895241b335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948</Words>
  <Application>Microsoft Office PowerPoint</Application>
  <PresentationFormat>Apresentação na tela (16:10)</PresentationFormat>
  <Paragraphs>180</Paragraphs>
  <Slides>26</Slides>
  <Notes>25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Segoe UI</vt:lpstr>
      <vt:lpstr>Wingdings</vt:lpstr>
      <vt:lpstr>Tema do Office</vt:lpstr>
      <vt:lpstr>Planilha do Microsoft Excel 97-2003</vt:lpstr>
      <vt:lpstr>Planilha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m12157996</dc:creator>
  <cp:lastModifiedBy>Felipe Magno Parreiras de Sousa (SEPLAG)</cp:lastModifiedBy>
  <cp:revision>170</cp:revision>
  <cp:lastPrinted>2020-01-14T13:03:48Z</cp:lastPrinted>
  <dcterms:created xsi:type="dcterms:W3CDTF">2019-06-04T11:59:27Z</dcterms:created>
  <dcterms:modified xsi:type="dcterms:W3CDTF">2026-02-10T16:30:36Z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0x010100B08D58FADB61F04EBBB4F355C06EFBED</vt:lpwstr>
  </property>
  <property fmtid="{D5CDD505-2E9C-101B-9397-08002B2CF9AE}" pid="3" name="MediaServiceImageTags">
    <vt:lpwstr/>
  </property>
</Properties>
</file>