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61" r:id="rId5"/>
    <p:sldId id="260" r:id="rId6"/>
    <p:sldId id="258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18D6A1-EC6C-509D-1EC1-05B23B3A65CC}" v="43" dt="2026-08-20T14:56:40.7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iane Gonçalves Porto Nascimento (SEPLAG)" userId="S::m752868@ca.mg.gov.br::8a9e512c-6eec-4499-8f6e-67c78fab64ad" providerId="AD" clId="Web-{C518D6A1-EC6C-509D-1EC1-05B23B3A65CC}"/>
    <pc:docChg chg="modSld">
      <pc:chgData name="Viviane Gonçalves Porto Nascimento (SEPLAG)" userId="S::m752868@ca.mg.gov.br::8a9e512c-6eec-4499-8f6e-67c78fab64ad" providerId="AD" clId="Web-{C518D6A1-EC6C-509D-1EC1-05B23B3A65CC}" dt="2026-08-20T14:56:37.135" v="42" actId="20577"/>
      <pc:docMkLst>
        <pc:docMk/>
      </pc:docMkLst>
      <pc:sldChg chg="modSp">
        <pc:chgData name="Viviane Gonçalves Porto Nascimento (SEPLAG)" userId="S::m752868@ca.mg.gov.br::8a9e512c-6eec-4499-8f6e-67c78fab64ad" providerId="AD" clId="Web-{C518D6A1-EC6C-509D-1EC1-05B23B3A65CC}" dt="2026-08-20T14:56:37.135" v="42" actId="20577"/>
        <pc:sldMkLst>
          <pc:docMk/>
          <pc:sldMk cId="0" sldId="258"/>
        </pc:sldMkLst>
        <pc:spChg chg="mod">
          <ac:chgData name="Viviane Gonçalves Porto Nascimento (SEPLAG)" userId="S::m752868@ca.mg.gov.br::8a9e512c-6eec-4499-8f6e-67c78fab64ad" providerId="AD" clId="Web-{C518D6A1-EC6C-509D-1EC1-05B23B3A65CC}" dt="2026-08-20T14:56:04.712" v="40" actId="14100"/>
          <ac:spMkLst>
            <pc:docMk/>
            <pc:sldMk cId="0" sldId="258"/>
            <ac:spMk id="22" creationId="{00000000-0000-0000-0000-000000000000}"/>
          </ac:spMkLst>
        </pc:spChg>
        <pc:spChg chg="mod">
          <ac:chgData name="Viviane Gonçalves Porto Nascimento (SEPLAG)" userId="S::m752868@ca.mg.gov.br::8a9e512c-6eec-4499-8f6e-67c78fab64ad" providerId="AD" clId="Web-{C518D6A1-EC6C-509D-1EC1-05B23B3A65CC}" dt="2026-08-20T14:56:37.135" v="42" actId="20577"/>
          <ac:spMkLst>
            <pc:docMk/>
            <pc:sldMk cId="0" sldId="258"/>
            <ac:spMk id="34" creationId="{00000000-0000-0000-0000-000000000000}"/>
          </ac:spMkLst>
        </pc:spChg>
      </pc:sldChg>
    </pc:docChg>
  </pc:docChgLst>
  <pc:docChgLst>
    <pc:chgData name="Viviane Nascimento" userId="796ce8924561144a" providerId="LiveId" clId="{CA03A259-0C9F-4B73-97FA-2AA10E695F42}"/>
    <pc:docChg chg="modSld">
      <pc:chgData name="Viviane Nascimento" userId="796ce8924561144a" providerId="LiveId" clId="{CA03A259-0C9F-4B73-97FA-2AA10E695F42}" dt="2026-08-20T14:45:27.053" v="55" actId="1076"/>
      <pc:docMkLst>
        <pc:docMk/>
      </pc:docMkLst>
      <pc:sldChg chg="modSp mod">
        <pc:chgData name="Viviane Nascimento" userId="796ce8924561144a" providerId="LiveId" clId="{CA03A259-0C9F-4B73-97FA-2AA10E695F42}" dt="2026-08-20T14:45:27.053" v="55" actId="1076"/>
        <pc:sldMkLst>
          <pc:docMk/>
          <pc:sldMk cId="0" sldId="258"/>
        </pc:sldMkLst>
        <pc:spChg chg="mod">
          <ac:chgData name="Viviane Nascimento" userId="796ce8924561144a" providerId="LiveId" clId="{CA03A259-0C9F-4B73-97FA-2AA10E695F42}" dt="2026-08-20T14:43:48.820" v="34" actId="2057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Viviane Nascimento" userId="796ce8924561144a" providerId="LiveId" clId="{CA03A259-0C9F-4B73-97FA-2AA10E695F42}" dt="2026-08-20T14:44:04.054" v="35" actId="2057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Viviane Nascimento" userId="796ce8924561144a" providerId="LiveId" clId="{CA03A259-0C9F-4B73-97FA-2AA10E695F42}" dt="2026-08-20T14:44:56.265" v="52" actId="20577"/>
          <ac:spMkLst>
            <pc:docMk/>
            <pc:sldMk cId="0" sldId="258"/>
            <ac:spMk id="30" creationId="{00000000-0000-0000-0000-000000000000}"/>
          </ac:spMkLst>
        </pc:spChg>
        <pc:spChg chg="mod">
          <ac:chgData name="Viviane Nascimento" userId="796ce8924561144a" providerId="LiveId" clId="{CA03A259-0C9F-4B73-97FA-2AA10E695F42}" dt="2026-08-20T14:45:27.053" v="55" actId="1076"/>
          <ac:spMkLst>
            <pc:docMk/>
            <pc:sldMk cId="0" sldId="258"/>
            <ac:spMk id="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Quadro de cenários elaborado com base na planilha anexa.
[Sources]
- Planilha: propag_apresentacao_comite_monitoramento_agosto_26.xlsx, Planilha1. Valores: FEF dez/2025 R$ 52.964.615; FEF 2026 previsto R$ 226.999.814,37; EPT 30% R$ 68.099.944,31; FUNESB 2025 4,5% R$ 2.383.407,67; FUNESB 2026 4,5% R$ 10.214.991,65; FUNESB total R$ 12.598.399,32; demais áreas ajustadas R$ 146.301.470,74.
- Legislação consolidada: Decreto nº 12.433/2025, arts. 64, 65, 66 e 78; Lei Complementar nº 212/2025, art. 5º, § 2º; Lei nº 25.668/2025, art. 23, §§ 3º e 4º.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Quadro de cenários elaborado com base na planilha anexa.
[Sources]
- Planilha: propag_apresentacao_comite_monitoramento_agosto_26.xlsx, Planilha1. Valores: FEF dez/2025 R$ 52.964.615; FEF 2026 previsto R$ 226.999.814,37; EPT 30% R$ 68.099.944,31; FUNESB 2025 4,5% R$ 2.383.407,67; FUNESB 2026 4,5% R$ 10.214.991,65; FUNESB total R$ 12.598.399,32; demais áreas ajustadas R$ 146.301.470,74.
- Legislação consolidada: Decreto nº 12.433/2025, arts. 64, 65, 66 e 78; Lei Complementar nº 212/2025, art. 5º, § 2º; Lei nº 25.668/2025, art. 23, §§ 3º e 4º.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Pontos para deliberacao fornecidos pela equipe: pontos para deliberaçaõ do FEF.txt.
- Quadro de execucao: quadro_propag_reuniao_monitoramento_execucao.xlsx, aba quadro_resumo.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ptx_tm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0"/>
            <a:ext cx="1217066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1792" y="484632"/>
            <a:ext cx="10835640" cy="502920"/>
          </a:xfrm>
          <a:prstGeom prst="rect">
            <a:avLst/>
          </a:prstGeom>
          <a:solidFill>
            <a:srgbClr val="F0F0F0">
              <a:alpha val="9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758952" y="585216"/>
            <a:ext cx="8869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600" b="1" noProof="0">
                <a:solidFill>
                  <a:schemeClr val="bg2">
                    <a:lumMod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</a:t>
            </a:r>
            <a:r>
              <a:rPr lang="en-US" sz="1600" b="1">
                <a:solidFill>
                  <a:schemeClr val="bg2">
                    <a:lumMod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Situação da Execução Orçamentária</a:t>
            </a:r>
            <a:endParaRPr 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9509760" y="585216"/>
            <a:ext cx="17830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787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em R$ milhões</a:t>
            </a:r>
            <a:endParaRPr lang="en-US" sz="850"/>
          </a:p>
        </p:txBody>
      </p:sp>
      <p:pic>
        <p:nvPicPr>
          <p:cNvPr id="6" name="Image 1" descr="/mnt/data/pptx_tmp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48" y="5442087"/>
            <a:ext cx="1554480" cy="1076178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A9367A0C-DD15-71C2-429D-47FC72EB6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92" y="1620451"/>
            <a:ext cx="11692036" cy="31887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ptx_tm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0"/>
            <a:ext cx="1217066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1792" y="484632"/>
            <a:ext cx="10835640" cy="502920"/>
          </a:xfrm>
          <a:prstGeom prst="rect">
            <a:avLst/>
          </a:prstGeom>
          <a:solidFill>
            <a:srgbClr val="F0F0F0">
              <a:alpha val="9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758952" y="585216"/>
            <a:ext cx="8869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>
                <a:latin typeface="Arial" pitchFamily="34" charset="0"/>
                <a:ea typeface="Arial" pitchFamily="34" charset="-122"/>
                <a:cs typeface="Arial" pitchFamily="34" charset="-120"/>
              </a:rPr>
              <a:t>Cenários para aplicação da receita FEF 2026 e compensação FUNESB</a:t>
            </a:r>
            <a:endParaRPr lang="en-US" sz="1600"/>
          </a:p>
        </p:txBody>
      </p:sp>
      <p:sp>
        <p:nvSpPr>
          <p:cNvPr id="5" name="Text 2"/>
          <p:cNvSpPr/>
          <p:nvPr/>
        </p:nvSpPr>
        <p:spPr>
          <a:xfrm>
            <a:off x="9509760" y="585216"/>
            <a:ext cx="17830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787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em R$ milhões</a:t>
            </a:r>
            <a:endParaRPr lang="en-US" sz="850"/>
          </a:p>
        </p:txBody>
      </p:sp>
      <p:pic>
        <p:nvPicPr>
          <p:cNvPr id="6" name="Image 1" descr="/mnt/data/pptx_tmp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48" y="5442087"/>
            <a:ext cx="1554480" cy="107617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4652" y="1152144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F8FBFA"/>
          </a:solidFill>
          <a:ln w="7620">
            <a:solidFill>
              <a:srgbClr val="C7D7D1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8" name="Text 4"/>
          <p:cNvSpPr/>
          <p:nvPr/>
        </p:nvSpPr>
        <p:spPr>
          <a:xfrm>
            <a:off x="731520" y="1408176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>
                <a:latin typeface="Arial" pitchFamily="34" charset="0"/>
                <a:ea typeface="Arial" pitchFamily="34" charset="-122"/>
                <a:cs typeface="Arial" pitchFamily="34" charset="-120"/>
              </a:rPr>
              <a:t>Receita FEF 2025</a:t>
            </a:r>
            <a:endParaRPr lang="en-US" sz="1200"/>
          </a:p>
        </p:txBody>
      </p:sp>
      <p:sp>
        <p:nvSpPr>
          <p:cNvPr id="9" name="Text 5"/>
          <p:cNvSpPr/>
          <p:nvPr/>
        </p:nvSpPr>
        <p:spPr>
          <a:xfrm>
            <a:off x="2116836" y="131673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>
                <a:latin typeface="Arial" pitchFamily="34" charset="0"/>
                <a:ea typeface="Arial" pitchFamily="34" charset="-122"/>
                <a:cs typeface="Arial" pitchFamily="34" charset="-120"/>
              </a:rPr>
              <a:t>R$52,96M</a:t>
            </a:r>
            <a:endParaRPr lang="en-US" sz="1200"/>
          </a:p>
        </p:txBody>
      </p:sp>
      <p:sp>
        <p:nvSpPr>
          <p:cNvPr id="11" name="Shape 7"/>
          <p:cNvSpPr/>
          <p:nvPr/>
        </p:nvSpPr>
        <p:spPr>
          <a:xfrm>
            <a:off x="3291840" y="1124712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F8FBFA"/>
          </a:solidFill>
          <a:ln w="7620">
            <a:solidFill>
              <a:srgbClr val="C7D7D1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12" name="Text 8"/>
          <p:cNvSpPr/>
          <p:nvPr/>
        </p:nvSpPr>
        <p:spPr>
          <a:xfrm>
            <a:off x="3332988" y="1400804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787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FEF 2026</a:t>
            </a:r>
            <a:endParaRPr lang="en-US" sz="1200"/>
          </a:p>
        </p:txBody>
      </p:sp>
      <p:sp>
        <p:nvSpPr>
          <p:cNvPr id="13" name="Text 9"/>
          <p:cNvSpPr/>
          <p:nvPr/>
        </p:nvSpPr>
        <p:spPr>
          <a:xfrm>
            <a:off x="4727448" y="1311697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R$226,99M</a:t>
            </a:r>
            <a:endParaRPr lang="en-US" sz="12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989320" y="1124712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FFF7F6"/>
          </a:solidFill>
          <a:ln w="7620">
            <a:solidFill>
              <a:srgbClr val="E7C0C0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16" name="Text 12"/>
          <p:cNvSpPr/>
          <p:nvPr/>
        </p:nvSpPr>
        <p:spPr>
          <a:xfrm>
            <a:off x="6099048" y="1356491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>
                <a:latin typeface="Arial" pitchFamily="34" charset="0"/>
                <a:ea typeface="Arial" pitchFamily="34" charset="-122"/>
                <a:cs typeface="Arial" pitchFamily="34" charset="-120"/>
              </a:rPr>
              <a:t>FUNESB devido 2025 (4,5%)</a:t>
            </a:r>
            <a:endParaRPr lang="en-US" sz="1200"/>
          </a:p>
        </p:txBody>
      </p:sp>
      <p:sp>
        <p:nvSpPr>
          <p:cNvPr id="17" name="Text 13"/>
          <p:cNvSpPr/>
          <p:nvPr/>
        </p:nvSpPr>
        <p:spPr>
          <a:xfrm>
            <a:off x="7397122" y="1329655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>
                <a:solidFill>
                  <a:srgbClr val="A6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R$2,38M</a:t>
            </a:r>
            <a:endParaRPr lang="en-US" sz="1200"/>
          </a:p>
        </p:txBody>
      </p:sp>
      <p:sp>
        <p:nvSpPr>
          <p:cNvPr id="18" name="Text 14"/>
          <p:cNvSpPr/>
          <p:nvPr/>
        </p:nvSpPr>
        <p:spPr>
          <a:xfrm>
            <a:off x="8257032" y="1371600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19" name="Shape 15"/>
          <p:cNvSpPr/>
          <p:nvPr/>
        </p:nvSpPr>
        <p:spPr>
          <a:xfrm>
            <a:off x="8686800" y="1124712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FFF7F6"/>
          </a:solidFill>
          <a:ln w="7620">
            <a:solidFill>
              <a:srgbClr val="E7C0C0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20" name="Text 16"/>
          <p:cNvSpPr/>
          <p:nvPr/>
        </p:nvSpPr>
        <p:spPr>
          <a:xfrm>
            <a:off x="8796528" y="1345747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787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FUNESB devido 2026 (4,5%)</a:t>
            </a:r>
            <a:endParaRPr lang="en-US" sz="1200"/>
          </a:p>
        </p:txBody>
      </p:sp>
      <p:sp>
        <p:nvSpPr>
          <p:cNvPr id="21" name="Text 17"/>
          <p:cNvSpPr/>
          <p:nvPr/>
        </p:nvSpPr>
        <p:spPr>
          <a:xfrm>
            <a:off x="10140696" y="129844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>
                <a:solidFill>
                  <a:srgbClr val="A6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R$10,21M</a:t>
            </a:r>
            <a:endParaRPr lang="en-US" sz="1200"/>
          </a:p>
        </p:txBody>
      </p:sp>
      <p:sp>
        <p:nvSpPr>
          <p:cNvPr id="23" name="Shape 19"/>
          <p:cNvSpPr/>
          <p:nvPr/>
        </p:nvSpPr>
        <p:spPr>
          <a:xfrm>
            <a:off x="594360" y="1993392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7620">
            <a:solidFill>
              <a:srgbClr val="E8C892"/>
            </a:solidFill>
            <a:prstDash val="solid"/>
          </a:ln>
          <a:effectLst>
            <a:outerShdw blurRad="1905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24" name="Shape 20"/>
          <p:cNvSpPr/>
          <p:nvPr/>
        </p:nvSpPr>
        <p:spPr>
          <a:xfrm>
            <a:off x="758952" y="2157984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C66A00"/>
          </a:solidFill>
          <a:ln w="12700">
            <a:solidFill>
              <a:srgbClr val="C66A00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25" name="Text 21"/>
          <p:cNvSpPr/>
          <p:nvPr/>
        </p:nvSpPr>
        <p:spPr>
          <a:xfrm>
            <a:off x="758952" y="224942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1</a:t>
            </a:r>
            <a:endParaRPr lang="en-US" sz="1200"/>
          </a:p>
        </p:txBody>
      </p:sp>
      <p:sp>
        <p:nvSpPr>
          <p:cNvPr id="26" name="Text 22"/>
          <p:cNvSpPr/>
          <p:nvPr/>
        </p:nvSpPr>
        <p:spPr>
          <a:xfrm>
            <a:off x="1856232" y="2157984"/>
            <a:ext cx="365760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FEF 2026 ainda em 2026</a:t>
            </a:r>
            <a:endParaRPr lang="en-US" sz="1200"/>
          </a:p>
        </p:txBody>
      </p:sp>
      <p:sp>
        <p:nvSpPr>
          <p:cNvPr id="27" name="Text 23"/>
          <p:cNvSpPr/>
          <p:nvPr/>
        </p:nvSpPr>
        <p:spPr>
          <a:xfrm>
            <a:off x="941832" y="2688336"/>
            <a:ext cx="2286000" cy="155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EPT 30%</a:t>
            </a:r>
            <a:endParaRPr lang="en-US" sz="1200"/>
          </a:p>
        </p:txBody>
      </p:sp>
      <p:sp>
        <p:nvSpPr>
          <p:cNvPr id="28" name="Text 24"/>
          <p:cNvSpPr/>
          <p:nvPr/>
        </p:nvSpPr>
        <p:spPr>
          <a:xfrm>
            <a:off x="4114800" y="2670048"/>
            <a:ext cx="105156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C6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R$ 68,10M</a:t>
            </a:r>
            <a:endParaRPr lang="en-US" sz="1200"/>
          </a:p>
        </p:txBody>
      </p:sp>
      <p:sp>
        <p:nvSpPr>
          <p:cNvPr id="29" name="Text 25"/>
          <p:cNvSpPr/>
          <p:nvPr/>
        </p:nvSpPr>
        <p:spPr>
          <a:xfrm>
            <a:off x="5212080" y="2706624"/>
            <a:ext cx="1554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30" name="Shape 26"/>
          <p:cNvSpPr/>
          <p:nvPr/>
        </p:nvSpPr>
        <p:spPr>
          <a:xfrm>
            <a:off x="923544" y="2916936"/>
            <a:ext cx="4462272" cy="1"/>
          </a:xfrm>
          <a:prstGeom prst="line">
            <a:avLst/>
          </a:prstGeom>
          <a:noFill/>
          <a:ln w="5080">
            <a:solidFill>
              <a:srgbClr val="E5ECE9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31" name="Text 27"/>
          <p:cNvSpPr/>
          <p:nvPr/>
        </p:nvSpPr>
        <p:spPr>
          <a:xfrm>
            <a:off x="941832" y="3072384"/>
            <a:ext cx="2286000" cy="155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Demais áreas</a:t>
            </a:r>
            <a:endParaRPr lang="en-US" sz="1200"/>
          </a:p>
        </p:txBody>
      </p:sp>
      <p:sp>
        <p:nvSpPr>
          <p:cNvPr id="32" name="Text 28"/>
          <p:cNvSpPr/>
          <p:nvPr/>
        </p:nvSpPr>
        <p:spPr>
          <a:xfrm>
            <a:off x="4114800" y="3054096"/>
            <a:ext cx="105156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C6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R$158,90M</a:t>
            </a:r>
            <a:endParaRPr lang="en-US" sz="1200"/>
          </a:p>
        </p:txBody>
      </p:sp>
      <p:sp>
        <p:nvSpPr>
          <p:cNvPr id="34" name="Shape 30"/>
          <p:cNvSpPr/>
          <p:nvPr/>
        </p:nvSpPr>
        <p:spPr>
          <a:xfrm>
            <a:off x="923544" y="3300984"/>
            <a:ext cx="4462272" cy="1"/>
          </a:xfrm>
          <a:prstGeom prst="line">
            <a:avLst/>
          </a:prstGeom>
          <a:noFill/>
          <a:ln w="5080">
            <a:solidFill>
              <a:srgbClr val="E5ECE9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35" name="Text 31"/>
          <p:cNvSpPr/>
          <p:nvPr/>
        </p:nvSpPr>
        <p:spPr>
          <a:xfrm>
            <a:off x="941832" y="3456432"/>
            <a:ext cx="2286000" cy="155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FUNESB em 2026</a:t>
            </a:r>
            <a:endParaRPr lang="en-US" sz="1200"/>
          </a:p>
        </p:txBody>
      </p:sp>
      <p:sp>
        <p:nvSpPr>
          <p:cNvPr id="36" name="Text 32"/>
          <p:cNvSpPr/>
          <p:nvPr/>
        </p:nvSpPr>
        <p:spPr>
          <a:xfrm>
            <a:off x="4114800" y="3438144"/>
            <a:ext cx="105156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6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R$0,00</a:t>
            </a:r>
            <a:endParaRPr lang="en-US" sz="1200"/>
          </a:p>
        </p:txBody>
      </p:sp>
      <p:sp>
        <p:nvSpPr>
          <p:cNvPr id="38" name="Shape 34"/>
          <p:cNvSpPr/>
          <p:nvPr/>
        </p:nvSpPr>
        <p:spPr>
          <a:xfrm>
            <a:off x="923544" y="3685032"/>
            <a:ext cx="4462272" cy="1"/>
          </a:xfrm>
          <a:prstGeom prst="line">
            <a:avLst/>
          </a:prstGeom>
          <a:noFill/>
          <a:ln w="5080">
            <a:solidFill>
              <a:srgbClr val="E5ECE9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39" name="Shape 35"/>
          <p:cNvSpPr/>
          <p:nvPr/>
        </p:nvSpPr>
        <p:spPr>
          <a:xfrm>
            <a:off x="914400" y="4553712"/>
            <a:ext cx="4617720" cy="9144"/>
          </a:xfrm>
          <a:prstGeom prst="rect">
            <a:avLst/>
          </a:prstGeom>
          <a:solidFill>
            <a:srgbClr val="C66A00"/>
          </a:solidFill>
          <a:ln w="12700">
            <a:solidFill>
              <a:srgbClr val="C66A00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40" name="Text 36"/>
          <p:cNvSpPr/>
          <p:nvPr/>
        </p:nvSpPr>
        <p:spPr>
          <a:xfrm>
            <a:off x="941832" y="4645152"/>
            <a:ext cx="4526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integral da receita em 2026, sem destinação ao FUNESB, pois o fundo não foi criado. Compensação em 2027: R$ 12,60 mi referentes aos valores devidos de 2025 e 2026.</a:t>
            </a:r>
            <a:endParaRPr lang="en-US" sz="1100"/>
          </a:p>
        </p:txBody>
      </p:sp>
      <p:sp>
        <p:nvSpPr>
          <p:cNvPr id="41" name="Shape 37"/>
          <p:cNvSpPr/>
          <p:nvPr/>
        </p:nvSpPr>
        <p:spPr>
          <a:xfrm>
            <a:off x="6108192" y="1993392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7620">
            <a:solidFill>
              <a:srgbClr val="BFD4CC"/>
            </a:solidFill>
            <a:prstDash val="solid"/>
          </a:ln>
          <a:effectLst>
            <a:outerShdw blurRad="1905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42" name="Shape 38"/>
          <p:cNvSpPr/>
          <p:nvPr/>
        </p:nvSpPr>
        <p:spPr>
          <a:xfrm>
            <a:off x="6272784" y="2157984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006B4E"/>
          </a:solidFill>
          <a:ln w="12700">
            <a:solidFill>
              <a:srgbClr val="006B4E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43" name="Text 39"/>
          <p:cNvSpPr/>
          <p:nvPr/>
        </p:nvSpPr>
        <p:spPr>
          <a:xfrm>
            <a:off x="6272784" y="224942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2</a:t>
            </a:r>
            <a:endParaRPr lang="en-US" sz="1200"/>
          </a:p>
        </p:txBody>
      </p:sp>
      <p:sp>
        <p:nvSpPr>
          <p:cNvPr id="44" name="Text 40"/>
          <p:cNvSpPr/>
          <p:nvPr/>
        </p:nvSpPr>
        <p:spPr>
          <a:xfrm>
            <a:off x="7370064" y="2157984"/>
            <a:ext cx="365760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FEF 2026 em 2027</a:t>
            </a:r>
            <a:endParaRPr lang="en-US" sz="1200"/>
          </a:p>
        </p:txBody>
      </p:sp>
      <p:sp>
        <p:nvSpPr>
          <p:cNvPr id="45" name="Text 41"/>
          <p:cNvSpPr/>
          <p:nvPr/>
        </p:nvSpPr>
        <p:spPr>
          <a:xfrm>
            <a:off x="6455663" y="2633472"/>
            <a:ext cx="3565415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Receita 2025 (EPT 30%, Demais:70%)</a:t>
            </a:r>
            <a:endParaRPr lang="en-US" sz="1200"/>
          </a:p>
        </p:txBody>
      </p:sp>
      <p:sp>
        <p:nvSpPr>
          <p:cNvPr id="46" name="Text 42"/>
          <p:cNvSpPr/>
          <p:nvPr/>
        </p:nvSpPr>
        <p:spPr>
          <a:xfrm>
            <a:off x="9875520" y="2660904"/>
            <a:ext cx="105156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0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R$52,96M</a:t>
            </a:r>
            <a:endParaRPr lang="en-US" sz="1200"/>
          </a:p>
        </p:txBody>
      </p:sp>
      <p:sp>
        <p:nvSpPr>
          <p:cNvPr id="48" name="Shape 44"/>
          <p:cNvSpPr/>
          <p:nvPr/>
        </p:nvSpPr>
        <p:spPr>
          <a:xfrm>
            <a:off x="6437376" y="2916936"/>
            <a:ext cx="4462272" cy="1"/>
          </a:xfrm>
          <a:prstGeom prst="line">
            <a:avLst/>
          </a:prstGeom>
          <a:noFill/>
          <a:ln w="5080">
            <a:solidFill>
              <a:srgbClr val="E5ECE9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49" name="Text 45"/>
          <p:cNvSpPr/>
          <p:nvPr/>
        </p:nvSpPr>
        <p:spPr>
          <a:xfrm>
            <a:off x="6455664" y="3072384"/>
            <a:ext cx="2286000" cy="155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2027: Receita 2026 (EPT 30%)</a:t>
            </a:r>
            <a:endParaRPr lang="en-US" sz="1200"/>
          </a:p>
        </p:txBody>
      </p:sp>
      <p:sp>
        <p:nvSpPr>
          <p:cNvPr id="50" name="Text 46"/>
          <p:cNvSpPr/>
          <p:nvPr/>
        </p:nvSpPr>
        <p:spPr>
          <a:xfrm>
            <a:off x="9902952" y="3064819"/>
            <a:ext cx="105156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0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R$68,10M</a:t>
            </a:r>
            <a:endParaRPr lang="en-US" sz="1200"/>
          </a:p>
        </p:txBody>
      </p:sp>
      <p:sp>
        <p:nvSpPr>
          <p:cNvPr id="52" name="Shape 48"/>
          <p:cNvSpPr/>
          <p:nvPr/>
        </p:nvSpPr>
        <p:spPr>
          <a:xfrm>
            <a:off x="6437376" y="3300984"/>
            <a:ext cx="4462272" cy="1"/>
          </a:xfrm>
          <a:prstGeom prst="line">
            <a:avLst/>
          </a:prstGeom>
          <a:noFill/>
          <a:ln w="5080">
            <a:solidFill>
              <a:srgbClr val="E5ECE9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53" name="Text 49"/>
          <p:cNvSpPr/>
          <p:nvPr/>
        </p:nvSpPr>
        <p:spPr>
          <a:xfrm>
            <a:off x="6455663" y="3374137"/>
            <a:ext cx="3285495" cy="23774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2027: Receita 2025/2026 (FUNESB)</a:t>
            </a:r>
            <a:endParaRPr lang="en-US" sz="1200"/>
          </a:p>
        </p:txBody>
      </p:sp>
      <p:sp>
        <p:nvSpPr>
          <p:cNvPr id="54" name="Text 50"/>
          <p:cNvSpPr/>
          <p:nvPr/>
        </p:nvSpPr>
        <p:spPr>
          <a:xfrm>
            <a:off x="9875520" y="3447288"/>
            <a:ext cx="105156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0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R$12,60M</a:t>
            </a:r>
            <a:endParaRPr lang="en-US" sz="1200"/>
          </a:p>
        </p:txBody>
      </p:sp>
      <p:sp>
        <p:nvSpPr>
          <p:cNvPr id="56" name="Shape 52"/>
          <p:cNvSpPr/>
          <p:nvPr/>
        </p:nvSpPr>
        <p:spPr>
          <a:xfrm>
            <a:off x="6437376" y="3685032"/>
            <a:ext cx="4462272" cy="1"/>
          </a:xfrm>
          <a:prstGeom prst="line">
            <a:avLst/>
          </a:prstGeom>
          <a:noFill/>
          <a:ln w="5080">
            <a:solidFill>
              <a:srgbClr val="E5ECE9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57" name="Text 53"/>
          <p:cNvSpPr/>
          <p:nvPr/>
        </p:nvSpPr>
        <p:spPr>
          <a:xfrm>
            <a:off x="6455664" y="3775065"/>
            <a:ext cx="3648456" cy="24828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2027: Receita 2026 (Demais áreas 70% - FUNESB)</a:t>
            </a:r>
            <a:endParaRPr lang="en-US" sz="1200"/>
          </a:p>
        </p:txBody>
      </p:sp>
      <p:sp>
        <p:nvSpPr>
          <p:cNvPr id="58" name="Text 54"/>
          <p:cNvSpPr/>
          <p:nvPr/>
        </p:nvSpPr>
        <p:spPr>
          <a:xfrm>
            <a:off x="9892875" y="3822192"/>
            <a:ext cx="105156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0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R$146,30M</a:t>
            </a:r>
            <a:endParaRPr lang="en-US" sz="1200"/>
          </a:p>
        </p:txBody>
      </p:sp>
      <p:sp>
        <p:nvSpPr>
          <p:cNvPr id="60" name="Shape 56"/>
          <p:cNvSpPr/>
          <p:nvPr/>
        </p:nvSpPr>
        <p:spPr>
          <a:xfrm>
            <a:off x="6437376" y="4069080"/>
            <a:ext cx="4462272" cy="1"/>
          </a:xfrm>
          <a:prstGeom prst="line">
            <a:avLst/>
          </a:prstGeom>
          <a:noFill/>
          <a:ln w="5080">
            <a:solidFill>
              <a:srgbClr val="E5ECE9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61" name="Shape 57"/>
          <p:cNvSpPr/>
          <p:nvPr/>
        </p:nvSpPr>
        <p:spPr>
          <a:xfrm>
            <a:off x="6428232" y="4553712"/>
            <a:ext cx="4617720" cy="9144"/>
          </a:xfrm>
          <a:prstGeom prst="rect">
            <a:avLst/>
          </a:prstGeom>
          <a:solidFill>
            <a:srgbClr val="006B4E"/>
          </a:solidFill>
          <a:ln w="12700">
            <a:solidFill>
              <a:srgbClr val="006B4E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62" name="Text 58"/>
          <p:cNvSpPr/>
          <p:nvPr/>
        </p:nvSpPr>
        <p:spPr>
          <a:xfrm>
            <a:off x="6455664" y="4645152"/>
            <a:ext cx="4526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2026 aplica-se apenas a receita de 2025. Em 2027, compensa-se o FUNESB de 2025 e distribui-se corretamente a receita de 2026 entre EPT, FUNESB e demais áreas.</a:t>
            </a:r>
            <a:endParaRPr lang="en-US" sz="1100"/>
          </a:p>
        </p:txBody>
      </p:sp>
      <p:sp>
        <p:nvSpPr>
          <p:cNvPr id="63" name="Shape 59"/>
          <p:cNvSpPr/>
          <p:nvPr/>
        </p:nvSpPr>
        <p:spPr>
          <a:xfrm>
            <a:off x="594360" y="5532120"/>
            <a:ext cx="9848088" cy="694944"/>
          </a:xfrm>
          <a:prstGeom prst="roundRect">
            <a:avLst>
              <a:gd name="adj" fmla="val 10526"/>
            </a:avLst>
          </a:prstGeom>
          <a:solidFill>
            <a:srgbClr val="F8F8F8"/>
          </a:solidFill>
          <a:ln w="762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64" name="Text 60"/>
          <p:cNvSpPr/>
          <p:nvPr/>
        </p:nvSpPr>
        <p:spPr>
          <a:xfrm>
            <a:off x="771082" y="5769865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Encaminhamento para validação</a:t>
            </a:r>
            <a:endParaRPr lang="en-US" sz="12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5" name="Text 61"/>
          <p:cNvSpPr/>
          <p:nvPr/>
        </p:nvSpPr>
        <p:spPr>
          <a:xfrm>
            <a:off x="2874855" y="5724143"/>
            <a:ext cx="75438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Deliberar o exercício de aplicação da receita FEF 2026,inclusive quanto a estratégia de compensar os valores devidos do Funesb (2025/2026) em 2027. 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ork_propag/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0"/>
            <a:ext cx="1217066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1792" y="484632"/>
            <a:ext cx="1083564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758952" y="585216"/>
            <a:ext cx="9006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chemeClr val="bg2">
                    <a:lumMod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a receita FEF 2026 em 2026 ou 2027: elementos para </a:t>
            </a:r>
            <a:r>
              <a:rPr lang="en-US" sz="1600" b="1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endParaRPr 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Image 1" descr="/mnt/data/work_propa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7312" y="5471277"/>
            <a:ext cx="1417320" cy="98122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4360" y="1143000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7620">
            <a:solidFill>
              <a:srgbClr val="E8C89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4"/>
          <p:cNvSpPr/>
          <p:nvPr/>
        </p:nvSpPr>
        <p:spPr>
          <a:xfrm>
            <a:off x="6108192" y="1143000"/>
            <a:ext cx="5230368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7620">
            <a:solidFill>
              <a:srgbClr val="BFD4CC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804672" y="1380744"/>
            <a:ext cx="102412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OPCAO 1</a:t>
            </a:r>
            <a:endParaRPr lang="en-US" sz="750"/>
          </a:p>
        </p:txBody>
      </p:sp>
      <p:sp>
        <p:nvSpPr>
          <p:cNvPr id="11" name="Text 7"/>
          <p:cNvSpPr/>
          <p:nvPr/>
        </p:nvSpPr>
        <p:spPr>
          <a:xfrm>
            <a:off x="758952" y="1276428"/>
            <a:ext cx="3337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1 – Aplicar FEF em 2026</a:t>
            </a:r>
            <a:endParaRPr lang="en-US" sz="1500"/>
          </a:p>
        </p:txBody>
      </p:sp>
      <p:sp>
        <p:nvSpPr>
          <p:cNvPr id="13" name="Text 9"/>
          <p:cNvSpPr/>
          <p:nvPr/>
        </p:nvSpPr>
        <p:spPr>
          <a:xfrm>
            <a:off x="6318504" y="1380744"/>
            <a:ext cx="102412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OPCAO 2</a:t>
            </a:r>
            <a:endParaRPr lang="en-US" sz="750"/>
          </a:p>
        </p:txBody>
      </p:sp>
      <p:sp>
        <p:nvSpPr>
          <p:cNvPr id="14" name="Text 10"/>
          <p:cNvSpPr/>
          <p:nvPr/>
        </p:nvSpPr>
        <p:spPr>
          <a:xfrm>
            <a:off x="6318504" y="1261872"/>
            <a:ext cx="3337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2 – Aplicar FEF em 2027</a:t>
            </a:r>
            <a:endParaRPr lang="en-US" sz="1500"/>
          </a:p>
        </p:txBody>
      </p:sp>
      <p:sp>
        <p:nvSpPr>
          <p:cNvPr id="15" name="Shape 11"/>
          <p:cNvSpPr/>
          <p:nvPr/>
        </p:nvSpPr>
        <p:spPr>
          <a:xfrm>
            <a:off x="822960" y="182880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822960" y="1856232"/>
            <a:ext cx="1280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FAVORAVEL</a:t>
            </a:r>
            <a:endParaRPr lang="en-US" sz="1000"/>
          </a:p>
        </p:txBody>
      </p:sp>
      <p:sp>
        <p:nvSpPr>
          <p:cNvPr id="17" name="Text 13"/>
          <p:cNvSpPr/>
          <p:nvPr/>
        </p:nvSpPr>
        <p:spPr>
          <a:xfrm>
            <a:off x="896111" y="2221992"/>
            <a:ext cx="4786231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computar no </a:t>
            </a:r>
            <a:r>
              <a:rPr lang="en-US" sz="1200" err="1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</a:t>
            </a: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</a:t>
            </a:r>
            <a:r>
              <a:rPr lang="en-US" sz="1200" err="1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despesas</a:t>
            </a: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err="1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elegíveis</a:t>
            </a: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pleito adicional de R$ 610 mi aprovado para infraestrutura, caso sejam liquidadas com recursos do FEF.</a:t>
            </a:r>
            <a:endParaRPr lang="en-US" sz="1200"/>
          </a:p>
        </p:txBody>
      </p:sp>
      <p:sp>
        <p:nvSpPr>
          <p:cNvPr id="18" name="Shape 14"/>
          <p:cNvSpPr/>
          <p:nvPr/>
        </p:nvSpPr>
        <p:spPr>
          <a:xfrm>
            <a:off x="822960" y="2871216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A64040"/>
          </a:solidFill>
          <a:ln w="12700">
            <a:solidFill>
              <a:srgbClr val="A640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822960" y="2898648"/>
            <a:ext cx="1508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DESFAVORAVEL</a:t>
            </a:r>
            <a:endParaRPr lang="en-US" sz="1000"/>
          </a:p>
        </p:txBody>
      </p:sp>
      <p:sp>
        <p:nvSpPr>
          <p:cNvPr id="20" name="Text 16"/>
          <p:cNvSpPr/>
          <p:nvPr/>
        </p:nvSpPr>
        <p:spPr>
          <a:xfrm>
            <a:off x="896111" y="3273552"/>
            <a:ext cx="4702255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aplicar 30% em EPT/SEE em poucos meses, justamente na area com menor ritmo de liquidacao.</a:t>
            </a:r>
            <a:endParaRPr lang="en-US" sz="1200"/>
          </a:p>
        </p:txBody>
      </p:sp>
      <p:sp>
        <p:nvSpPr>
          <p:cNvPr id="21" name="Text 17"/>
          <p:cNvSpPr/>
          <p:nvPr/>
        </p:nvSpPr>
        <p:spPr>
          <a:xfrm>
            <a:off x="896112" y="3776472"/>
            <a:ext cx="470225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err="1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Podem</a:t>
            </a: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nao haver despesas liquidaveis suficientes, dentro do planejamento da SEE,  ate o fim de 2026 para cobrir a parcela minima de EPT. </a:t>
            </a:r>
            <a:endParaRPr lang="en-US" sz="1200"/>
          </a:p>
        </p:txBody>
      </p:sp>
      <p:sp>
        <p:nvSpPr>
          <p:cNvPr id="22" name="Text 18"/>
          <p:cNvSpPr/>
          <p:nvPr/>
        </p:nvSpPr>
        <p:spPr>
          <a:xfrm>
            <a:off x="896482" y="4959224"/>
            <a:ext cx="4777380" cy="6213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Mantem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a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necessidade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de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compensar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em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2027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os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valores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do FUNESB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referentes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as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receitas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de 2025 e 2026, dado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que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o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fundo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nãos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erá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criado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este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ano</a:t>
            </a:r>
            <a:endParaRPr lang="en-US" sz="1200" err="1">
              <a:latin typeface="Arial"/>
              <a:cs typeface="Arial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1627632" y="5084064"/>
            <a:ext cx="1874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PONTO-CHAVE</a:t>
            </a:r>
            <a:endParaRPr lang="en-US" sz="750"/>
          </a:p>
        </p:txBody>
      </p:sp>
      <p:sp>
        <p:nvSpPr>
          <p:cNvPr id="26" name="Shape 22"/>
          <p:cNvSpPr/>
          <p:nvPr/>
        </p:nvSpPr>
        <p:spPr>
          <a:xfrm>
            <a:off x="6336792" y="182880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3"/>
          <p:cNvSpPr/>
          <p:nvPr/>
        </p:nvSpPr>
        <p:spPr>
          <a:xfrm>
            <a:off x="6336792" y="1856232"/>
            <a:ext cx="1280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FAVORAVEL</a:t>
            </a:r>
            <a:endParaRPr lang="en-US" sz="1000"/>
          </a:p>
        </p:txBody>
      </p:sp>
      <p:sp>
        <p:nvSpPr>
          <p:cNvPr id="28" name="Text 24"/>
          <p:cNvSpPr/>
          <p:nvPr/>
        </p:nvSpPr>
        <p:spPr>
          <a:xfrm>
            <a:off x="6409944" y="2221992"/>
            <a:ext cx="474013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Órgãos executores terão todo o exercicio para liquidar as despesas, reduzindo o risco operacional.</a:t>
            </a:r>
            <a:endParaRPr lang="en-US" sz="1200"/>
          </a:p>
        </p:txBody>
      </p:sp>
      <p:sp>
        <p:nvSpPr>
          <p:cNvPr id="30" name="Text 26"/>
          <p:cNvSpPr/>
          <p:nvPr/>
        </p:nvSpPr>
        <p:spPr>
          <a:xfrm>
            <a:off x="6389042" y="2873836"/>
            <a:ext cx="4761039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Fortalece a justificativa para executar em 2027 os 4,5% devidos ao FUNESB, com o fundo criado na LOA. E alinha-se ao previsto na LOA no qual deverá constar a aplicação do recurso </a:t>
            </a:r>
            <a:r>
              <a:rPr lang="en-US" sz="1200" err="1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relativo</a:t>
            </a: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receita de 2025/2026 que pela inexistencia do fundo não pode ser executado no presente exercício.</a:t>
            </a:r>
            <a:endParaRPr lang="en-US" sz="1200"/>
          </a:p>
        </p:txBody>
      </p:sp>
      <p:sp>
        <p:nvSpPr>
          <p:cNvPr id="31" name="Text 27"/>
          <p:cNvSpPr/>
          <p:nvPr/>
        </p:nvSpPr>
        <p:spPr>
          <a:xfrm>
            <a:off x="6389042" y="3694176"/>
            <a:ext cx="4761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24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 o valor a ser aplicado em 2027, o que pode oferecer margem para  absorver futuras ampliacoes de investimento em infraestrutura ou outras areas tematicas.</a:t>
            </a:r>
            <a:endParaRPr lang="en-US" sz="1200"/>
          </a:p>
        </p:txBody>
      </p:sp>
      <p:sp>
        <p:nvSpPr>
          <p:cNvPr id="32" name="Shape 28"/>
          <p:cNvSpPr/>
          <p:nvPr/>
        </p:nvSpPr>
        <p:spPr>
          <a:xfrm>
            <a:off x="6336792" y="420624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A64040"/>
          </a:solidFill>
          <a:ln w="12700">
            <a:solidFill>
              <a:srgbClr val="A640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9"/>
          <p:cNvSpPr/>
          <p:nvPr/>
        </p:nvSpPr>
        <p:spPr>
          <a:xfrm>
            <a:off x="6336792" y="4233672"/>
            <a:ext cx="1508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DESFAVORAVEL</a:t>
            </a:r>
            <a:endParaRPr lang="en-US" sz="1000"/>
          </a:p>
        </p:txBody>
      </p:sp>
      <p:sp>
        <p:nvSpPr>
          <p:cNvPr id="34" name="Text 30"/>
          <p:cNvSpPr/>
          <p:nvPr/>
        </p:nvSpPr>
        <p:spPr>
          <a:xfrm>
            <a:off x="6318504" y="4684893"/>
            <a:ext cx="483157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Ainda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nao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estao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mapeadas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intervencoes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suficientes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para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toda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a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receita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de 2026, dado o valor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já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considerado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para 2027,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podendo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acarretar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na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revisão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do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orcamento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de outros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orgaos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e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itens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nao </a:t>
            </a:r>
            <a:r>
              <a:rPr lang="en-US" sz="1200" err="1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aprovados</a:t>
            </a:r>
            <a:r>
              <a:rPr lang="en-US" sz="1200">
                <a:solidFill>
                  <a:srgbClr val="24322F"/>
                </a:solidFill>
                <a:latin typeface="Arial"/>
                <a:ea typeface="Arial" pitchFamily="34" charset="-122"/>
                <a:cs typeface="Arial"/>
              </a:rPr>
              <a:t> no OBZ.</a:t>
            </a:r>
            <a:endParaRPr lang="en-US" sz="1200">
              <a:latin typeface="Arial"/>
              <a:cs typeface="Arial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7424928" y="5212080"/>
            <a:ext cx="1874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PONTO-CHAVE</a:t>
            </a:r>
            <a:endParaRPr lang="en-US" sz="750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E8A81F0B-B0EC-8426-8D32-0DE840CEA55D}"/>
              </a:ext>
            </a:extLst>
          </p:cNvPr>
          <p:cNvSpPr/>
          <p:nvPr/>
        </p:nvSpPr>
        <p:spPr>
          <a:xfrm>
            <a:off x="896110" y="4379976"/>
            <a:ext cx="4636009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24322F"/>
                </a:solidFill>
                <a:latin typeface="Arial" pitchFamily="34" charset="0"/>
                <a:cs typeface="Arial" pitchFamily="34" charset="-120"/>
              </a:rPr>
              <a:t>Necessidade de rever os planos de aplicação (EPT e demais áreas) para informar que será gasto um valor superior ao informado anteriormente.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1e7f20-fe0a-487d-91a9-605ac1c64acf" xsi:nil="true"/>
    <lcf76f155ced4ddcb4097134ff3c332f xmlns="6f4338ef-addb-4c87-aefe-1895241b335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8D58FADB61F04EBBB4F355C06EFBED" ma:contentTypeVersion="19" ma:contentTypeDescription="Crie um novo documento." ma:contentTypeScope="" ma:versionID="b1e0f6055e0e9a4b9e75d6c71ee7de91">
  <xsd:schema xmlns:xsd="http://www.w3.org/2001/XMLSchema" xmlns:xs="http://www.w3.org/2001/XMLSchema" xmlns:p="http://schemas.microsoft.com/office/2006/metadata/properties" xmlns:ns2="6f4338ef-addb-4c87-aefe-1895241b335f" xmlns:ns3="b91e7f20-fe0a-487d-91a9-605ac1c64acf" targetNamespace="http://schemas.microsoft.com/office/2006/metadata/properties" ma:root="true" ma:fieldsID="b43930f3490e4d4da1ab3f8da7df6f51" ns2:_="" ns3:_="">
    <xsd:import namespace="6f4338ef-addb-4c87-aefe-1895241b335f"/>
    <xsd:import namespace="b91e7f20-fe0a-487d-91a9-605ac1c64a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338ef-addb-4c87-aefe-1895241b33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917d32f3-4fa4-4f5b-a8d0-62dbd3d265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e7f20-fe0a-487d-91a9-605ac1c64ac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8708050-f001-4dcd-9fe1-c60e835c33fc}" ma:internalName="TaxCatchAll" ma:showField="CatchAllData" ma:web="b91e7f20-fe0a-487d-91a9-605ac1c64a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E9AA2D-F788-45EE-8F38-7A979B1A665B}">
  <ds:schemaRefs>
    <ds:schemaRef ds:uri="6f4338ef-addb-4c87-aefe-1895241b335f"/>
    <ds:schemaRef ds:uri="b91e7f20-fe0a-487d-91a9-605ac1c64acf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6E8632C-B6FA-4FD1-8C9D-A1CF0D7790EC}">
  <ds:schemaRefs>
    <ds:schemaRef ds:uri="6f4338ef-addb-4c87-aefe-1895241b335f"/>
    <ds:schemaRef ds:uri="b91e7f20-fe0a-487d-91a9-605ac1c64a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CF61F8A-ADD1-43EA-AC04-66567762BB8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SEPLAG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Aplicacao FEF 2026 - deliberacao e execucao</dc:title>
  <dc:subject>PptxGenJS Presentation</dc:subject>
  <dc:creator>Viviane Gonçalves Porto Nascimento (SEPLAG)</dc:creator>
  <cp:revision>1</cp:revision>
  <dcterms:created xsi:type="dcterms:W3CDTF">2026-08-20T14:06:59Z</dcterms:created>
  <dcterms:modified xsi:type="dcterms:W3CDTF">2026-08-20T14:56:50Z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0x010100B08D58FADB61F04EBBB4F355C06EFBED</vt:lpwstr>
  </property>
  <property fmtid="{D5CDD505-2E9C-101B-9397-08002B2CF9AE}" pid="3" name="MediaServiceImageTags">
    <vt:lpwstr/>
  </property>
</Properties>
</file>