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1426" r:id="rId5"/>
    <p:sldId id="258" r:id="rId6"/>
    <p:sldId id="29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81"/>
  </p:normalViewPr>
  <p:slideViewPr>
    <p:cSldViewPr snapToGrid="0">
      <p:cViewPr varScale="1">
        <p:scale>
          <a:sx n="108" d="100"/>
          <a:sy n="108" d="100"/>
        </p:scale>
        <p:origin x="31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31A84-FECD-45D5-9ACE-A723F1018F06}" type="datetimeFigureOut">
              <a:t>06/07/2026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57279-A81A-40AB-8BB4-8E7DAAB5937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332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FBC37-6D64-13BB-D34F-7F16E1ACF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C1FC859-2A51-D248-C1D1-7111E512A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E156CD-1599-EC6B-BB00-16439489C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7E403B-5BAA-8D73-5728-8A8D72754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489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9F95532-5F5A-8903-4E0F-883315828A33}"/>
              </a:ext>
            </a:extLst>
          </p:cNvPr>
          <p:cNvSpPr txBox="1"/>
          <p:nvPr/>
        </p:nvSpPr>
        <p:spPr>
          <a:xfrm>
            <a:off x="3179676" y="6213790"/>
            <a:ext cx="5832648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600" b="1"/>
              <a:t>05/07/2026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541DF22-6382-ED14-6778-59E1163C616D}"/>
              </a:ext>
            </a:extLst>
          </p:cNvPr>
          <p:cNvSpPr/>
          <p:nvPr/>
        </p:nvSpPr>
        <p:spPr>
          <a:xfrm>
            <a:off x="300937" y="2747466"/>
            <a:ext cx="143000" cy="13630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09943D8-FAF9-A216-AE8C-AA6FC226B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583" y="4965577"/>
            <a:ext cx="1193069" cy="1108076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A2CA9E51-C09E-4212-33AA-8D98BBAF5A4D}"/>
              </a:ext>
            </a:extLst>
          </p:cNvPr>
          <p:cNvSpPr>
            <a:spLocks noGrp="1"/>
          </p:cNvSpPr>
          <p:nvPr/>
        </p:nvSpPr>
        <p:spPr>
          <a:xfrm>
            <a:off x="725054" y="2747466"/>
            <a:ext cx="10741892" cy="12492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>
                <a:latin typeface="Aptos" panose="020B0004020202020204" pitchFamily="34" charset="0"/>
              </a:rPr>
              <a:t>REUNIÃO DE STATUS PROPAG</a:t>
            </a:r>
          </a:p>
        </p:txBody>
      </p:sp>
    </p:spTree>
    <p:extLst>
      <p:ext uri="{BB962C8B-B14F-4D97-AF65-F5344CB8AC3E}">
        <p14:creationId xmlns:p14="http://schemas.microsoft.com/office/powerpoint/2010/main" val="3750575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1455D-6C36-71E1-D235-A4DA18898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D31536AD-A6D5-4111-7171-2F767D6F3839}"/>
              </a:ext>
            </a:extLst>
          </p:cNvPr>
          <p:cNvSpPr/>
          <p:nvPr/>
        </p:nvSpPr>
        <p:spPr>
          <a:xfrm>
            <a:off x="184727" y="36945"/>
            <a:ext cx="7539181" cy="5541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2400" b="1" cap="all">
                <a:solidFill>
                  <a:srgbClr val="538135"/>
                </a:solidFill>
                <a:latin typeface="Trebuchet MS"/>
                <a:ea typeface="ＭＳ Ｐゴシック"/>
                <a:cs typeface="Calibri"/>
              </a:rPr>
              <a:t>CENÁRIOS - PRESTAÇÃO DE CONTAS 1º SEMESTRE</a:t>
            </a:r>
            <a:endParaRPr lang="pt-BR" sz="2000" b="1">
              <a:solidFill>
                <a:srgbClr val="000000"/>
              </a:solidFill>
              <a:latin typeface="Aptos"/>
              <a:ea typeface="ＭＳ Ｐゴシック"/>
              <a:cs typeface="Calibri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35784A23-DCC7-866D-F2F9-D72B797348A7}"/>
              </a:ext>
            </a:extLst>
          </p:cNvPr>
          <p:cNvSpPr/>
          <p:nvPr/>
        </p:nvSpPr>
        <p:spPr>
          <a:xfrm>
            <a:off x="64737" y="1715461"/>
            <a:ext cx="1887185" cy="4091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>
                <a:solidFill>
                  <a:srgbClr val="000000"/>
                </a:solidFill>
              </a:rPr>
              <a:t>Riscos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0565632-965C-F700-512C-A2F128857AF9}"/>
              </a:ext>
            </a:extLst>
          </p:cNvPr>
          <p:cNvSpPr/>
          <p:nvPr/>
        </p:nvSpPr>
        <p:spPr>
          <a:xfrm>
            <a:off x="65515" y="5502566"/>
            <a:ext cx="1887185" cy="4091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>
                <a:solidFill>
                  <a:srgbClr val="000000"/>
                </a:solidFill>
              </a:rPr>
              <a:t>Próximos Passos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CFCF0F2-A999-0F6E-27F7-E20ADB162049}"/>
              </a:ext>
            </a:extLst>
          </p:cNvPr>
          <p:cNvSpPr/>
          <p:nvPr/>
        </p:nvSpPr>
        <p:spPr>
          <a:xfrm>
            <a:off x="64737" y="6283626"/>
            <a:ext cx="1887185" cy="4091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>
                <a:solidFill>
                  <a:srgbClr val="000000"/>
                </a:solidFill>
              </a:rPr>
              <a:t>Prejuízos Potenciais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00361C3-2EE0-7191-E59E-8F599C81CAB7}"/>
              </a:ext>
            </a:extLst>
          </p:cNvPr>
          <p:cNvSpPr/>
          <p:nvPr/>
        </p:nvSpPr>
        <p:spPr>
          <a:xfrm>
            <a:off x="64737" y="3430925"/>
            <a:ext cx="1887186" cy="4091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>
                <a:solidFill>
                  <a:srgbClr val="000000"/>
                </a:solidFill>
              </a:rPr>
              <a:t>Argumentação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7BBD0E9-FA94-C8CC-A8C3-7406C4BAB786}"/>
              </a:ext>
            </a:extLst>
          </p:cNvPr>
          <p:cNvSpPr/>
          <p:nvPr/>
        </p:nvSpPr>
        <p:spPr>
          <a:xfrm>
            <a:off x="64737" y="4632832"/>
            <a:ext cx="1887185" cy="4091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>
                <a:solidFill>
                  <a:srgbClr val="000000"/>
                </a:solidFill>
              </a:rPr>
              <a:t>Orçamento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3AE30F3-25A0-16F4-C805-8E2605DED42C}"/>
              </a:ext>
            </a:extLst>
          </p:cNvPr>
          <p:cNvSpPr/>
          <p:nvPr/>
        </p:nvSpPr>
        <p:spPr>
          <a:xfrm>
            <a:off x="2621989" y="593490"/>
            <a:ext cx="2173431" cy="311727"/>
          </a:xfrm>
          <a:prstGeom prst="rect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0" i="0" u="none" strike="noStrike" baseline="0">
                <a:solidFill>
                  <a:srgbClr val="FFFFFF"/>
                </a:solidFill>
                <a:latin typeface="Aptos"/>
              </a:rPr>
              <a:t>6</a:t>
            </a:r>
            <a:r>
              <a:rPr lang="pt-BR" sz="1400">
                <a:solidFill>
                  <a:srgbClr val="FFFFFF"/>
                </a:solidFill>
                <a:latin typeface="Aptos"/>
              </a:rPr>
              <a:t>% |</a:t>
            </a:r>
            <a:r>
              <a:rPr lang="pt-BR" sz="1400" b="0" i="0" u="none" strike="noStrike" baseline="0">
                <a:solidFill>
                  <a:srgbClr val="FFFFFF"/>
                </a:solidFill>
                <a:latin typeface="Aptos"/>
              </a:rPr>
              <a:t> 94%</a:t>
            </a:r>
            <a:r>
              <a:rPr lang="pt-BR"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​</a:t>
            </a:r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019EFC0-9542-C6F4-8958-3642192875AF}"/>
              </a:ext>
            </a:extLst>
          </p:cNvPr>
          <p:cNvSpPr/>
          <p:nvPr/>
        </p:nvSpPr>
        <p:spPr>
          <a:xfrm>
            <a:off x="5998772" y="575662"/>
            <a:ext cx="2173431" cy="311727"/>
          </a:xfrm>
          <a:prstGeom prst="rect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>
                <a:solidFill>
                  <a:srgbClr val="FFFFFF"/>
                </a:solidFill>
                <a:latin typeface="Aptos"/>
              </a:rPr>
              <a:t>30% |</a:t>
            </a:r>
            <a:r>
              <a:rPr lang="pt-BR" sz="1400" b="0" i="0" u="none" strike="noStrike" baseline="0">
                <a:solidFill>
                  <a:srgbClr val="FFFFFF"/>
                </a:solidFill>
                <a:latin typeface="Aptos"/>
              </a:rPr>
              <a:t> </a:t>
            </a:r>
            <a:r>
              <a:rPr lang="pt-BR" sz="1400">
                <a:solidFill>
                  <a:srgbClr val="FFFFFF"/>
                </a:solidFill>
                <a:latin typeface="Aptos"/>
              </a:rPr>
              <a:t>70</a:t>
            </a:r>
            <a:r>
              <a:rPr lang="pt-BR" sz="1400" b="0" i="0" u="none" strike="noStrike" baseline="0">
                <a:solidFill>
                  <a:srgbClr val="FFFFFF"/>
                </a:solidFill>
                <a:latin typeface="Aptos"/>
              </a:rPr>
              <a:t>%</a:t>
            </a:r>
            <a:endParaRPr lang="pt-BR"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1F87026-C9EF-6D86-4B50-81C08D580FEC}"/>
              </a:ext>
            </a:extLst>
          </p:cNvPr>
          <p:cNvSpPr/>
          <p:nvPr/>
        </p:nvSpPr>
        <p:spPr>
          <a:xfrm>
            <a:off x="9358247" y="591126"/>
            <a:ext cx="2173431" cy="311727"/>
          </a:xfrm>
          <a:prstGeom prst="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>
                <a:solidFill>
                  <a:srgbClr val="FFFFFF"/>
                </a:solidFill>
                <a:latin typeface="Aptos"/>
              </a:rPr>
              <a:t>60% |</a:t>
            </a:r>
            <a:r>
              <a:rPr lang="pt-BR" sz="1400" b="0" i="0" u="none" strike="noStrike" baseline="0">
                <a:solidFill>
                  <a:srgbClr val="FFFFFF"/>
                </a:solidFill>
                <a:latin typeface="Aptos"/>
              </a:rPr>
              <a:t> </a:t>
            </a:r>
            <a:r>
              <a:rPr lang="pt-BR" sz="1400">
                <a:solidFill>
                  <a:srgbClr val="FFFFFF"/>
                </a:solidFill>
                <a:latin typeface="Aptos"/>
              </a:rPr>
              <a:t>40</a:t>
            </a:r>
            <a:r>
              <a:rPr lang="pt-BR" sz="1400" b="0" i="0" u="none" strike="noStrike" baseline="0">
                <a:solidFill>
                  <a:srgbClr val="FFFFFF"/>
                </a:solidFill>
                <a:latin typeface="Aptos"/>
              </a:rPr>
              <a:t>%</a:t>
            </a:r>
            <a:endParaRPr lang="pt-BR"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B30F6FF-4C1A-4CE7-660B-22E26C5EEFB7}"/>
              </a:ext>
            </a:extLst>
          </p:cNvPr>
          <p:cNvSpPr/>
          <p:nvPr/>
        </p:nvSpPr>
        <p:spPr>
          <a:xfrm>
            <a:off x="2088705" y="982490"/>
            <a:ext cx="3240000" cy="1882156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ts val="1350"/>
              </a:lnSpc>
            </a:pPr>
            <a:r>
              <a:rPr lang="pt-BR" sz="1400" b="1" i="0" u="sng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Alto</a:t>
            </a:r>
            <a:r>
              <a:rPr lang="en-US" sz="1400" b="1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171450" lvl="0" indent="-171450" algn="just" rtl="0">
              <a:lnSpc>
                <a:spcPts val="1200"/>
              </a:lnSpc>
              <a:buFont typeface="Arial,Sans-Serif"/>
              <a:buChar char="•"/>
            </a:pP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Ainda não conseguimos comprovar o cumprimento da meta.</a:t>
            </a:r>
            <a:r>
              <a:rPr lang="en-US" sz="12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171450" indent="-171450" algn="just">
              <a:lnSpc>
                <a:spcPts val="1200"/>
              </a:lnSpc>
              <a:buFont typeface="Arial,Sans-Serif"/>
              <a:buChar char="•"/>
            </a:pP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Argumentação para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 déficit de 19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mil matrículas</a:t>
            </a:r>
            <a:r>
              <a:rPr lang="pt-BR" sz="1200" b="1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é frágil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(Censo 2025 x Déficit Portaria Setec nº 5/2026 x "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Matrículas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após adesão" - art. 7º Portaria 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930/25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)</a:t>
            </a:r>
            <a:r>
              <a:rPr lang="en-US" sz="12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r>
              <a:rPr lang="en-US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.</a:t>
            </a:r>
            <a:endParaRPr lang="en-US" sz="1200" b="0" i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171450" indent="-171450" algn="just">
              <a:lnSpc>
                <a:spcPts val="1200"/>
              </a:lnSpc>
              <a:buFont typeface="Arial,Sans-Serif"/>
              <a:buChar char="•"/>
            </a:pP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Não está claro se 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os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investimentos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seriam 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somente 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das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matrículas necessárias para se alcançar a meta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 ou se de todas.</a:t>
            </a:r>
            <a:endParaRPr lang="en-US" sz="1200">
              <a:solidFill>
                <a:srgbClr val="000000"/>
              </a:solidFill>
              <a:latin typeface="Aptos"/>
              <a:cs typeface="Arial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F923567-5673-B0B0-E104-D8743DA2F5D7}"/>
              </a:ext>
            </a:extLst>
          </p:cNvPr>
          <p:cNvSpPr/>
          <p:nvPr/>
        </p:nvSpPr>
        <p:spPr>
          <a:xfrm>
            <a:off x="5465488" y="982490"/>
            <a:ext cx="3240000" cy="187489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ts val="1350"/>
              </a:lnSpc>
            </a:pPr>
            <a:endParaRPr lang="pt-BR" sz="1400" b="1" u="sng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algn="ctr">
              <a:lnSpc>
                <a:spcPts val="1350"/>
              </a:lnSpc>
            </a:pPr>
            <a:r>
              <a:rPr lang="pt-BR" sz="1400" b="1" i="0" u="sng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Médio</a:t>
            </a:r>
            <a:r>
              <a:rPr lang="en-US" sz="1400" b="1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en-US"/>
          </a:p>
          <a:p>
            <a:pPr marL="171450" lvl="0" indent="-171450" algn="just" rtl="0">
              <a:lnSpc>
                <a:spcPts val="1200"/>
              </a:lnSpc>
              <a:buFont typeface="Arial,Sans-Serif"/>
              <a:buChar char="•"/>
            </a:pPr>
            <a:r>
              <a:rPr lang="pt-BR" sz="12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Ainda não conseguimos comprovar o cumprimento da meta.</a:t>
            </a:r>
            <a:r>
              <a:rPr lang="pt-BR" sz="12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171450" indent="-171450" algn="just">
              <a:lnSpc>
                <a:spcPts val="1200"/>
              </a:lnSpc>
              <a:buFont typeface="Arial,Sans-Serif"/>
              <a:buChar char="•"/>
            </a:pP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A argumentação de 30% referente ao investimento do EPT é a </a:t>
            </a:r>
            <a:r>
              <a:rPr lang="pt-BR" sz="1200" b="1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tecnicamente </a:t>
            </a:r>
            <a:r>
              <a:rPr lang="pt-BR" sz="1200" b="1">
                <a:solidFill>
                  <a:srgbClr val="000000"/>
                </a:solidFill>
                <a:latin typeface="Aptos"/>
                <a:ea typeface="Arial"/>
                <a:cs typeface="Arial"/>
              </a:rPr>
              <a:t>mais </a:t>
            </a:r>
            <a:r>
              <a:rPr lang="pt-BR" sz="1200" b="1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indicada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, pois não se entra na discussão de qual quantidade de 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déficit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de matrículas será utilizado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, pois considera todo o investimento em EPT.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12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9CA23ED-E7E9-7AC2-47E4-FB71FDAE72A1}"/>
              </a:ext>
            </a:extLst>
          </p:cNvPr>
          <p:cNvSpPr/>
          <p:nvPr/>
        </p:nvSpPr>
        <p:spPr>
          <a:xfrm>
            <a:off x="8835015" y="981388"/>
            <a:ext cx="3232743" cy="1874899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ts val="1350"/>
              </a:lnSpc>
            </a:pPr>
            <a:endParaRPr lang="pt-BR" sz="1400" b="1" u="sng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algn="ctr">
              <a:lnSpc>
                <a:spcPts val="1350"/>
              </a:lnSpc>
            </a:pPr>
            <a:r>
              <a:rPr lang="pt-BR" sz="1400" b="1" i="0" u="sng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Baixo</a:t>
            </a:r>
            <a:r>
              <a:rPr lang="en-US" sz="1400" b="1" i="0" u="sng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en-US"/>
          </a:p>
          <a:p>
            <a:pPr marL="171450" lvl="0" indent="-171450" algn="just" rtl="0">
              <a:lnSpc>
                <a:spcPts val="1200"/>
              </a:lnSpc>
              <a:buFont typeface="Arial,Sans-Serif"/>
              <a:buChar char="•"/>
            </a:pP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A comprovação da meta pode ficar para 2027. </a:t>
            </a:r>
            <a:r>
              <a:rPr lang="pt-BR" sz="12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ACC0956-FFDD-E9C1-86FF-209451B8B783}"/>
              </a:ext>
            </a:extLst>
          </p:cNvPr>
          <p:cNvSpPr/>
          <p:nvPr/>
        </p:nvSpPr>
        <p:spPr>
          <a:xfrm>
            <a:off x="2088705" y="2956433"/>
            <a:ext cx="3240000" cy="1410441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just">
              <a:buFont typeface="Arial,Sans-Serif"/>
              <a:buChar char="•"/>
            </a:pP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Art. 5º, IV Lei nº 212/2025 "a qualquer tempo..."</a:t>
            </a:r>
            <a:endParaRPr lang="en-US" sz="1200" b="0" i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171450" indent="-171450" algn="just">
              <a:buFont typeface="Arial,Sans-Serif"/>
              <a:buChar char="•"/>
            </a:pP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A obrigatoriedade do </a:t>
            </a:r>
            <a:r>
              <a:rPr lang="pt-BR" sz="120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Sistec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 é infralegal (Decreto nº 12.433/2025), é possível 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comprovar o cumprimento da meta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 por meio de sistemas internos da SEE em </a:t>
            </a:r>
            <a:r>
              <a:rPr lang="pt-BR" sz="120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mai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/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26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.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FE74B47-1C30-6BB9-0977-18EAA229C528}"/>
              </a:ext>
            </a:extLst>
          </p:cNvPr>
          <p:cNvSpPr/>
          <p:nvPr/>
        </p:nvSpPr>
        <p:spPr>
          <a:xfrm>
            <a:off x="5458231" y="2956433"/>
            <a:ext cx="3240000" cy="138867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 algn="just">
              <a:buFont typeface="Arial,Sans-Serif"/>
              <a:buChar char="•"/>
            </a:pP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Valor mais que suficiente para ultrapassar a </a:t>
            </a:r>
            <a:r>
              <a:rPr lang="pt-BR" sz="12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meta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 prevista na Portaria</a:t>
            </a:r>
            <a:r>
              <a:rPr lang="pt-BR" sz="12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.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endParaRPr lang="en-US" sz="1200" b="0" i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171450" indent="-171450" algn="just">
              <a:buFont typeface="Arial,Sans-Serif"/>
              <a:buChar char="•"/>
            </a:pP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A 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Lei nº 212/2025 prevê redução 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de 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aporte em EPT para 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30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%, em caso </a:t>
            </a:r>
            <a:r>
              <a:rPr lang="pt-BR" sz="1200" b="0" i="0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de </a:t>
            </a:r>
            <a:r>
              <a:rPr lang="pt-BR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t>impossibilidade técnica e operacional (Portaria é mais restritiva) </a:t>
            </a:r>
            <a:r>
              <a:rPr lang="en-US" sz="12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13EADD4-EF54-6C6F-E58E-1116D43467C7}"/>
              </a:ext>
            </a:extLst>
          </p:cNvPr>
          <p:cNvSpPr/>
          <p:nvPr/>
        </p:nvSpPr>
        <p:spPr>
          <a:xfrm>
            <a:off x="8842272" y="2963691"/>
            <a:ext cx="3240000" cy="1374156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lvl="0" indent="-171450">
              <a:buFont typeface="Arial"/>
              <a:buChar char="•"/>
            </a:pPr>
            <a:r>
              <a:rPr lang="pt-BR" sz="1200">
                <a:solidFill>
                  <a:schemeClr val="tx1"/>
                </a:solidFill>
              </a:rPr>
              <a:t>Está de acordo com a exigência legal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CC89334-312A-9A30-CC60-D6DA0C020264}"/>
              </a:ext>
            </a:extLst>
          </p:cNvPr>
          <p:cNvSpPr/>
          <p:nvPr/>
        </p:nvSpPr>
        <p:spPr>
          <a:xfrm>
            <a:off x="2088705" y="4458662"/>
            <a:ext cx="3240000" cy="75617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/>
                </a:solidFill>
              </a:rPr>
              <a:t>OK</a:t>
            </a:r>
            <a:endParaRPr lang="pt-BR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/>
                </a:solidFill>
              </a:rPr>
              <a:t>Permite pagar obras DER dentro do Plano de Aplicação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BBE1CEE-BE69-9959-A86F-67F5960D9A67}"/>
              </a:ext>
            </a:extLst>
          </p:cNvPr>
          <p:cNvSpPr/>
          <p:nvPr/>
        </p:nvSpPr>
        <p:spPr>
          <a:xfrm>
            <a:off x="5457453" y="4458661"/>
            <a:ext cx="3240000" cy="756177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0000"/>
                </a:solidFill>
              </a:rPr>
              <a:t>Valor previsto para a SEE gastar com EPT em 2026 (R$ 258 mi gastos com IPU 1)</a:t>
            </a:r>
            <a:endParaRPr lang="pt-BR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0000"/>
                </a:solidFill>
                <a:highlight>
                  <a:srgbClr val="FFFF00"/>
                </a:highlight>
              </a:rPr>
              <a:t>Impacto no DER: R$211,19 milhões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FB93C1F-4900-52A6-3F07-D2D62E7C8015}"/>
              </a:ext>
            </a:extLst>
          </p:cNvPr>
          <p:cNvSpPr/>
          <p:nvPr/>
        </p:nvSpPr>
        <p:spPr>
          <a:xfrm>
            <a:off x="8842272" y="4478565"/>
            <a:ext cx="3240000" cy="721757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200">
                <a:solidFill>
                  <a:schemeClr val="tx1"/>
                </a:solidFill>
              </a:rPr>
              <a:t>Dificuldade de capacidade técnica e operacional para se gastar em EPT. </a:t>
            </a:r>
            <a:endParaRPr lang="pt-BR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/>
                </a:solidFill>
                <a:highlight>
                  <a:srgbClr val="FFFF00"/>
                </a:highlight>
              </a:rPr>
              <a:t>Impacto no DER: R$773,52 </a:t>
            </a:r>
            <a:r>
              <a:rPr lang="pt-BR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mihões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03F5A2C-F842-6741-0582-1CB82CB20B01}"/>
              </a:ext>
            </a:extLst>
          </p:cNvPr>
          <p:cNvSpPr/>
          <p:nvPr/>
        </p:nvSpPr>
        <p:spPr>
          <a:xfrm>
            <a:off x="2088705" y="5329012"/>
            <a:ext cx="3240000" cy="75617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/>
                </a:solidFill>
              </a:rPr>
              <a:t>Judicializar, assim que matrículas lançadas no SISTEC – judicializar solicitando o cumprimento da meta.</a:t>
            </a:r>
          </a:p>
          <a:p>
            <a:pPr marL="171450" indent="-171450" algn="just">
              <a:buFont typeface="Arial,Sans-Serif" panose="020B0604020202020204" pitchFamily="34" charset="0"/>
              <a:buChar char="•"/>
            </a:pPr>
            <a:r>
              <a:rPr lang="pt-BR" sz="1200" dirty="0">
                <a:solidFill>
                  <a:schemeClr val="tx1"/>
                </a:solidFill>
              </a:rPr>
              <a:t>Revisar Planos de Investimentos</a:t>
            </a:r>
            <a:endParaRPr lang="en-US" sz="1200" dirty="0">
              <a:solidFill>
                <a:schemeClr val="tx1"/>
              </a:solidFill>
            </a:endParaRPr>
          </a:p>
          <a:p>
            <a:pPr algn="just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683FF-DA34-D6D9-6EAD-D55AE282FB72}"/>
              </a:ext>
            </a:extLst>
          </p:cNvPr>
          <p:cNvSpPr/>
          <p:nvPr/>
        </p:nvSpPr>
        <p:spPr>
          <a:xfrm>
            <a:off x="5457453" y="5321137"/>
            <a:ext cx="3240000" cy="756177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</a:rPr>
              <a:t>Assim que matrículas lançadas no SISTEC – judicializar solicitando o cumprimento da meta</a:t>
            </a:r>
            <a:endParaRPr lang="pt-BR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</a:rPr>
              <a:t>Revisar Planos de Investimentos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BC61CA4-83D7-18F8-2BA6-04AFF7B13027}"/>
              </a:ext>
            </a:extLst>
          </p:cNvPr>
          <p:cNvSpPr/>
          <p:nvPr/>
        </p:nvSpPr>
        <p:spPr>
          <a:xfrm>
            <a:off x="8842272" y="5313482"/>
            <a:ext cx="3240000" cy="721757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>
                <a:solidFill>
                  <a:schemeClr val="tx1"/>
                </a:solidFill>
              </a:rPr>
              <a:t>Revisar plano de investimentos. </a:t>
            </a:r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CC54FEB-40D3-E9EE-3FE0-1BB7A90E9030}"/>
              </a:ext>
            </a:extLst>
          </p:cNvPr>
          <p:cNvSpPr/>
          <p:nvPr/>
        </p:nvSpPr>
        <p:spPr>
          <a:xfrm>
            <a:off x="2088705" y="6196806"/>
            <a:ext cx="3240000" cy="576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>
                <a:solidFill>
                  <a:schemeClr val="tx1"/>
                </a:solidFill>
                <a:highlight>
                  <a:srgbClr val="FFFF00"/>
                </a:highlight>
              </a:rPr>
              <a:t>Aporte de X milhões no Pé de Meia em 2027</a:t>
            </a:r>
            <a:endParaRPr lang="pt-BR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1FADE0B-1B7B-CFF7-D60E-4209B8FB67BD}"/>
              </a:ext>
            </a:extLst>
          </p:cNvPr>
          <p:cNvSpPr/>
          <p:nvPr/>
        </p:nvSpPr>
        <p:spPr>
          <a:xfrm>
            <a:off x="5465488" y="6198130"/>
            <a:ext cx="32400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0000"/>
                </a:solidFill>
                <a:highlight>
                  <a:srgbClr val="FFFF00"/>
                </a:highlight>
              </a:rPr>
              <a:t>Aporte de X milhões no Pé de Meia em 2027</a:t>
            </a:r>
            <a:endParaRPr lang="pt-BR">
              <a:highlight>
                <a:srgbClr val="FFFF00"/>
              </a:highlight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0000"/>
                </a:solidFill>
              </a:rPr>
              <a:t>Investimentos em Infraestrutura ultrapassarem o Teto</a:t>
            </a:r>
            <a:endParaRPr lang="pt-BR" sz="120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B1AC997-DB57-672C-AC30-F30BF2693B20}"/>
              </a:ext>
            </a:extLst>
          </p:cNvPr>
          <p:cNvSpPr/>
          <p:nvPr/>
        </p:nvSpPr>
        <p:spPr>
          <a:xfrm>
            <a:off x="8824963" y="6194591"/>
            <a:ext cx="32400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200">
                <a:solidFill>
                  <a:schemeClr val="tx1"/>
                </a:solidFill>
              </a:rPr>
              <a:t>Investimentos em Infraestrutura ultrapassarem o Teto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8761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71B81-9495-1ABE-0307-DC32334E2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ector reto 4">
            <a:extLst>
              <a:ext uri="{FF2B5EF4-FFF2-40B4-BE49-F238E27FC236}">
                <a16:creationId xmlns:a16="http://schemas.microsoft.com/office/drawing/2014/main" id="{04AE2E70-B650-03E3-1B9F-7ED95067B479}"/>
              </a:ext>
            </a:extLst>
          </p:cNvPr>
          <p:cNvCxnSpPr>
            <a:cxnSpLocks/>
          </p:cNvCxnSpPr>
          <p:nvPr/>
        </p:nvCxnSpPr>
        <p:spPr>
          <a:xfrm>
            <a:off x="156000" y="458060"/>
            <a:ext cx="11880000" cy="1437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DE454B9-1B22-CCD3-022C-ADB5F10D6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79" y="-14250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400"/>
              </a:spcAft>
              <a:buNone/>
              <a:defRPr/>
            </a:pPr>
            <a:r>
              <a:rPr lang="pt-BR" sz="2400" b="1" cap="all" dirty="0">
                <a:solidFill>
                  <a:srgbClr val="538135"/>
                </a:solidFill>
                <a:latin typeface="Trebuchet MS"/>
                <a:ea typeface="ＭＳ Ｐゴシック"/>
                <a:cs typeface="Calibri"/>
              </a:rPr>
              <a:t>Limite teto e Investimentos infraestrutura </a:t>
            </a:r>
            <a:endParaRPr lang="pt-BR" sz="2400" b="1" cap="all" dirty="0">
              <a:solidFill>
                <a:srgbClr val="538135"/>
              </a:solidFill>
              <a:latin typeface="Trebuchet MS"/>
              <a:cs typeface="Calibri" panose="020F0502020204030204" pitchFamily="34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CBDA0CE-3810-170F-F1B2-7A9B12752A3F}"/>
              </a:ext>
            </a:extLst>
          </p:cNvPr>
          <p:cNvSpPr/>
          <p:nvPr/>
        </p:nvSpPr>
        <p:spPr>
          <a:xfrm>
            <a:off x="90884" y="5963657"/>
            <a:ext cx="1201022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/>
              <a:t>Saldo a alocar - </a:t>
            </a:r>
            <a:r>
              <a:rPr lang="pt-BR" sz="1400" dirty="0"/>
              <a:t>Atualmente esta formalmente no DER/MG mas sem autorização para execução.</a:t>
            </a:r>
          </a:p>
          <a:p>
            <a:r>
              <a:rPr lang="pt-BR" sz="1400" b="1" dirty="0"/>
              <a:t>Infraestrutura -  Execução 2026 Extra plano (IPU 1)  - </a:t>
            </a:r>
            <a:r>
              <a:rPr lang="pt-BR" sz="1400" dirty="0"/>
              <a:t>valor necessário para execução no DER/MG fora do plano de aplicação para manter o mesmo patamar atual das despesas do órgão.</a:t>
            </a:r>
          </a:p>
          <a:p>
            <a:r>
              <a:rPr lang="pt-BR" sz="1400" b="1" dirty="0"/>
              <a:t>Infraestrutura - Pleito COFIN - </a:t>
            </a:r>
            <a:r>
              <a:rPr lang="pt-BR" sz="1400" dirty="0"/>
              <a:t>Demanda apresentada na COFIN Infraestrutura para obras de recuperação, Conserva (Governo Presente), Segurança Viária, Convênios </a:t>
            </a:r>
            <a:r>
              <a:rPr lang="pt-BR" sz="1400" dirty="0" err="1"/>
              <a:t>Seinfra</a:t>
            </a:r>
            <a:r>
              <a:rPr lang="pt-BR" sz="1400" dirty="0"/>
              <a:t> e </a:t>
            </a:r>
            <a:r>
              <a:rPr lang="pt-BR" sz="1400" dirty="0" err="1"/>
              <a:t>microinvestimento</a:t>
            </a:r>
            <a:r>
              <a:rPr lang="pt-BR" sz="1400" dirty="0"/>
              <a:t>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831" y="3607512"/>
            <a:ext cx="10324182" cy="2207417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00" y="549483"/>
            <a:ext cx="11988820" cy="298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937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8D58FADB61F04EBBB4F355C06EFBED" ma:contentTypeVersion="19" ma:contentTypeDescription="Crie um novo documento." ma:contentTypeScope="" ma:versionID="b1e0f6055e0e9a4b9e75d6c71ee7de91">
  <xsd:schema xmlns:xsd="http://www.w3.org/2001/XMLSchema" xmlns:xs="http://www.w3.org/2001/XMLSchema" xmlns:p="http://schemas.microsoft.com/office/2006/metadata/properties" xmlns:ns2="6f4338ef-addb-4c87-aefe-1895241b335f" xmlns:ns3="b91e7f20-fe0a-487d-91a9-605ac1c64acf" targetNamespace="http://schemas.microsoft.com/office/2006/metadata/properties" ma:root="true" ma:fieldsID="b43930f3490e4d4da1ab3f8da7df6f51" ns2:_="" ns3:_="">
    <xsd:import namespace="6f4338ef-addb-4c87-aefe-1895241b335f"/>
    <xsd:import namespace="b91e7f20-fe0a-487d-91a9-605ac1c64a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338ef-addb-4c87-aefe-1895241b33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917d32f3-4fa4-4f5b-a8d0-62dbd3d265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e7f20-fe0a-487d-91a9-605ac1c64ac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8708050-f001-4dcd-9fe1-c60e835c33fc}" ma:internalName="TaxCatchAll" ma:showField="CatchAllData" ma:web="b91e7f20-fe0a-487d-91a9-605ac1c64a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1e7f20-fe0a-487d-91a9-605ac1c64acf" xsi:nil="true"/>
    <lcf76f155ced4ddcb4097134ff3c332f xmlns="6f4338ef-addb-4c87-aefe-1895241b335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CAC4C17-CC7A-454E-8EE7-C6B58C25BBA9}"/>
</file>

<file path=customXml/itemProps2.xml><?xml version="1.0" encoding="utf-8"?>
<ds:datastoreItem xmlns:ds="http://schemas.openxmlformats.org/officeDocument/2006/customXml" ds:itemID="{32BA584D-EE5C-495A-8CA1-A287AD022F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B40F34-64EE-43A2-B35D-4CC32F31A068}">
  <ds:schemaRefs>
    <ds:schemaRef ds:uri="http://purl.org/dc/terms/"/>
    <ds:schemaRef ds:uri="ad1a0d50-b04c-47c2-aecf-ce05d35f4ea1"/>
    <ds:schemaRef ds:uri="http://purl.org/dc/elements/1.1/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9130dfcb-b4a9-4659-a000-3866fb0c64c6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455</Words>
  <Application>Microsoft Office PowerPoint</Application>
  <PresentationFormat>Widescreen</PresentationFormat>
  <Paragraphs>47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ＭＳ Ｐゴシック</vt:lpstr>
      <vt:lpstr>Aptos</vt:lpstr>
      <vt:lpstr>Aptos Display</vt:lpstr>
      <vt:lpstr>Arial</vt:lpstr>
      <vt:lpstr>Arial,Sans-Serif</vt:lpstr>
      <vt:lpstr>Calibri</vt:lpstr>
      <vt:lpstr>Trebuchet MS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Ana Carolina Schiavon Cordeiro</dc:creator>
  <cp:lastModifiedBy>Viviane Gonçalves Porto Nascimento (SEPLAG)</cp:lastModifiedBy>
  <cp:revision>25</cp:revision>
  <dcterms:created xsi:type="dcterms:W3CDTF">2026-07-03T17:08:11Z</dcterms:created>
  <dcterms:modified xsi:type="dcterms:W3CDTF">2026-07-06T17:19:28Z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0x010100B08D58FADB61F04EBBB4F355C06EFBED</vt:lpwstr>
  </property>
  <property fmtid="{D5CDD505-2E9C-101B-9397-08002B2CF9AE}" pid="3" name="MediaServiceImageTags">
    <vt:lpwstr/>
  </property>
</Properties>
</file>